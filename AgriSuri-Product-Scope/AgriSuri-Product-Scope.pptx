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19" Type="http://schemas.openxmlformats.org/officeDocument/2006/relationships/slide" Target="slides/slide19.xml" /><Relationship Id="rId0" Type="http://schemas.openxmlformats.org/officeDocument/2006/relationships/slideMaster" Target="slideMasters/slideMaster1.xml" /><Relationship Id="rId20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png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F14"/>
              </a:gs>
              <a:gs pos="56000">
                <a:srgbClr val="0B1F14"/>
              </a:gs>
              <a:gs pos="100000">
                <a:srgbClr val="056526"/>
              </a:gs>
            </a:gsLst>
            <a:lin ang="36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86500" y="228600"/>
            <a:ext cx="5905500" cy="62865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667500" y="4152900"/>
            <a:ext cx="419100" cy="19050"/>
          </a:xfrm>
          <a:prstGeom prst="rect">
            <a:avLst/>
          </a:prstGeom>
          <a:solidFill>
            <a:srgbClr val="A4DA22"/>
          </a:soli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667500" y="4324350"/>
            <a:ext cx="2857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65">
                <a:solidFill>
                  <a:srgbClr val="A4DA22"/>
                </a:solidFill>
                <a:latin typeface="Segoe UI"/>
                <a:ea typeface="Segoe UI"/>
              </a:rPr>
              <a:t>PILOT SITE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667500" y="4533900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5F8F2"/>
                </a:solidFill>
                <a:latin typeface="Georgia"/>
                <a:ea typeface="Georgia"/>
              </a:rPr>
              <a:t>Peñaranda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667500" y="4914900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Nueva Ecija · 10 barangays</a:t>
            </a:r>
            <a:endParaRPr/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685800" y="533400"/>
            <a:ext cx="381000" cy="381000"/>
          </a:xfrm>
          <a:prstGeom prst="rect">
            <a:avLst/>
          </a:prstGeom>
          <a:ln/>
        </p:spPr>
      </p:pic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200150" y="6381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F5F8F2"/>
                </a:solidFill>
                <a:latin typeface="Segoe UI"/>
                <a:ea typeface="Segoe UI"/>
              </a:rPr>
              <a:t>AGRISURI PH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85800" y="1352550"/>
            <a:ext cx="571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95">
                <a:solidFill>
                  <a:srgbClr val="A4DA22"/>
                </a:solidFill>
                <a:latin typeface="Segoe UI"/>
                <a:ea typeface="Segoe UI"/>
              </a:rPr>
              <a:t>PRODUCT SCOPE &amp; FEATURES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1657350"/>
            <a:ext cx="5715000" cy="9906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150" b="1" spc="-75">
                <a:solidFill>
                  <a:srgbClr val="F5F8F2"/>
                </a:solidFill>
                <a:latin typeface="Georgia"/>
                <a:ea typeface="Georgia"/>
              </a:rPr>
              <a:t>AgriSuri PH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685800" y="2876550"/>
            <a:ext cx="914400" cy="28575"/>
          </a:xfrm>
          <a:prstGeom prst="rect">
            <a:avLst/>
          </a:prstGeom>
          <a:solidFill>
            <a:srgbClr val="A4DA22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3133725"/>
            <a:ext cx="56197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>
                <a:solidFill>
                  <a:srgbClr val="F5F8F2">
                    <a:alpha val="78000"/>
                  </a:srgbClr>
                </a:solidFill>
                <a:latin typeface="Segoe UI"/>
                <a:ea typeface="Segoe UI"/>
              </a:rPr>
              <a:t>A crop-disease triage tool for tomato and palay farmers in Peñaranda, Nueva Ecija. One photo in, a plain-language reading out — with or without a data connection.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85800" y="4657725"/>
            <a:ext cx="11239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A4DA22"/>
                </a:solidFill>
                <a:latin typeface="Georgia"/>
                <a:ea typeface="Georgia"/>
              </a:rPr>
              <a:t>2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85800" y="5172075"/>
            <a:ext cx="1123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F5F8F2">
                    <a:alpha val="58000"/>
                  </a:srgbClr>
                </a:solidFill>
                <a:latin typeface="Segoe UI"/>
                <a:ea typeface="Segoe UI"/>
              </a:rPr>
              <a:t>crops supported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2190750" y="4657725"/>
            <a:ext cx="11239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A4DA22"/>
                </a:solidFill>
                <a:latin typeface="Georgia"/>
                <a:ea typeface="Georgia"/>
              </a:rPr>
              <a:t>14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2190750" y="5172075"/>
            <a:ext cx="1123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F5F8F2">
                    <a:alpha val="58000"/>
                  </a:srgbClr>
                </a:solidFill>
                <a:latin typeface="Segoe UI"/>
                <a:ea typeface="Segoe UI"/>
              </a:rPr>
              <a:t>disease classes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695700" y="4657725"/>
            <a:ext cx="11239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A4DA22"/>
                </a:solidFill>
                <a:latin typeface="Georgia"/>
                <a:ea typeface="Georgia"/>
              </a:rPr>
              <a:t>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3695700" y="5172075"/>
            <a:ext cx="1123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F5F8F2">
                    <a:alpha val="58000"/>
                  </a:srgbClr>
                </a:solidFill>
                <a:latin typeface="Segoe UI"/>
                <a:ea typeface="Segoe UI"/>
              </a:rPr>
              <a:t>account roles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200650" y="4657725"/>
            <a:ext cx="11239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A4DA22"/>
                </a:solidFill>
                <a:latin typeface="Georgia"/>
                <a:ea typeface="Georgia"/>
              </a:rPr>
              <a:t>0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200650" y="5172075"/>
            <a:ext cx="11239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00">
                <a:solidFill>
                  <a:srgbClr val="F5F8F2">
                    <a:alpha val="58000"/>
                  </a:srgbClr>
                </a:solidFill>
                <a:latin typeface="Segoe UI"/>
                <a:ea typeface="Segoe UI"/>
              </a:rPr>
              <a:t>bars of signal required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85800" y="5991225"/>
            <a:ext cx="5715000" cy="342900"/>
          </a:xfrm>
          <a:custGeom>
            <a:pathLst>
              <a:path w="600" h="36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2514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50000"/>
                  </a:srgbClr>
                </a:solidFill>
                <a:latin typeface="Segoe UI"/>
                <a:ea typeface="Segoe UI"/>
              </a:rPr>
              <a:t>Product walkthrough — scope, features, limits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905500" y="61722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50000"/>
                  </a:srgbClr>
                </a:solidFill>
                <a:latin typeface="Segoe UI"/>
                <a:ea typeface="Segoe UI"/>
              </a:rPr>
              <a:t>19 pages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85800" y="200025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056526"/>
                </a:solidFill>
                <a:latin typeface="Segoe UI"/>
                <a:ea typeface="Segoe UI"/>
              </a:rPr>
              <a:t>CONTENTS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85800" y="428625"/>
            <a:ext cx="108204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0B1F14"/>
                </a:solidFill>
                <a:latin typeface="Segoe UI"/>
                <a:ea typeface="Segoe UI"/>
              </a:rPr>
              <a:t>What this covers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85800" y="1219200"/>
            <a:ext cx="3048000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2025">
                <a:solidFill>
                  <a:srgbClr val="0B1F14"/>
                </a:solidFill>
                <a:latin typeface="Georgia"/>
                <a:ea typeface="Georgia"/>
              </a:rPr>
              <a:t>This deck is about the product: what it does, how a scan runs, who uses it, and where its edges are.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85800" y="5343525"/>
            <a:ext cx="419100" cy="19050"/>
          </a:xfrm>
          <a:prstGeom prst="rect">
            <a:avLst/>
          </a:prstGeom>
          <a:solidFill>
            <a:srgbClr val="056526"/>
          </a:solidFill>
          <a:ln/>
        </p:spPr>
        <p:txBody>
          <a:bodyPr/>
          <a:p>
            <a:pPr/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85800" y="5514975"/>
            <a:ext cx="30480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The study behind it appears on one page — as evidence for a design decision, not as the subject. No dataset walkthrough, no training curves.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4267200" y="2124075"/>
            <a:ext cx="7239000" cy="723900"/>
          </a:xfrm>
          <a:custGeom>
            <a:pathLst>
              <a:path w="760" h="76">
                <a:moveTo>
                  <a:pt x="0" y="75"/>
                </a:moveTo>
                <a:lnTo>
                  <a:pt x="760" y="75"/>
                </a:lnTo>
                <a:lnTo>
                  <a:pt x="76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267200" y="2276475"/>
            <a:ext cx="704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56526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972050" y="2124075"/>
            <a:ext cx="6172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1F14"/>
                </a:solidFill>
                <a:latin typeface="Segoe UI"/>
                <a:ea typeface="Segoe UI"/>
              </a:rPr>
              <a:t>The Product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972050" y="245745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What it is, and the gap it fills.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1144250" y="2457450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03–05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4267200" y="2838450"/>
            <a:ext cx="7239000" cy="933450"/>
          </a:xfrm>
          <a:custGeom>
            <a:pathLst>
              <a:path w="760" h="98">
                <a:moveTo>
                  <a:pt x="0" y="97"/>
                </a:moveTo>
                <a:lnTo>
                  <a:pt x="760" y="97"/>
                </a:lnTo>
                <a:lnTo>
                  <a:pt x="760" y="98"/>
                </a:lnTo>
                <a:lnTo>
                  <a:pt x="0" y="98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4267200" y="3200400"/>
            <a:ext cx="704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56526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972050" y="3048000"/>
            <a:ext cx="6172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1F14"/>
                </a:solidFill>
                <a:latin typeface="Segoe UI"/>
                <a:ea typeface="Segoe UI"/>
              </a:rPr>
              <a:t>How a Scan Works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972050" y="3381375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Five gates, two execution paths, one result card.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1144250" y="3381375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06–09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4267200" y="3762375"/>
            <a:ext cx="7239000" cy="933450"/>
          </a:xfrm>
          <a:custGeom>
            <a:pathLst>
              <a:path w="760" h="98">
                <a:moveTo>
                  <a:pt x="0" y="97"/>
                </a:moveTo>
                <a:lnTo>
                  <a:pt x="760" y="97"/>
                </a:lnTo>
                <a:lnTo>
                  <a:pt x="760" y="98"/>
                </a:lnTo>
                <a:lnTo>
                  <a:pt x="0" y="98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4267200" y="4124325"/>
            <a:ext cx="704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56526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4972050" y="3971925"/>
            <a:ext cx="6172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1F14"/>
                </a:solidFill>
                <a:latin typeface="Segoe UI"/>
                <a:ea typeface="Segoe UI"/>
              </a:rPr>
              <a:t>Who It Serves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4972050" y="430530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Farmer, DA officer, admin — and who may see what.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144250" y="4305300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10–13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267200" y="5048250"/>
            <a:ext cx="704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56526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4972050" y="4895850"/>
            <a:ext cx="6172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1F14"/>
                </a:solidFill>
                <a:latin typeface="Segoe UI"/>
                <a:ea typeface="Segoe UI"/>
              </a:rPr>
              <a:t>Scope &amp; Limits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4972050" y="5229225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What was built, what was refused, what is next.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1144250" y="5229225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14–19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02 / 19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09" name="" descr="&lt;Slide style={{ width: 1280, height: 720, position: 'relative', overflow: 'hidden', background: '#0B1F14', padding: 0 }}&gt;&#13;&#10;&#13;&#10;  &lt;Box style={{ position: 'absolute', right: 0, top: 0, width: 500, height: 720, background: '#056526', alignItems: 'center', justifyContent: 'center' }}&gt;&#13;&#10;    &lt;Text style={{ fontFamily: 'Segoe UI', fontSize: 13, fontWeight: 600, color: 'rgba(245,248,242,0.6)', letterSpacing: 3 }}&gt;CHAPTER&lt;/Text&gt;&#13;&#10;    &lt;Text style={{ fontFamily: 'Georgia', fontSize: 230, fontWeight: 'bold', color: '#A4DA22', lineHeight: 1, letterSpacing: 2, marginTop: 4 }}&gt;01&lt;/Text&gt;&#13;&#10;    &lt;Text style={{ fontFamily: 'Segoe UI', fontSize: 13, fontWeight: 600, color: 'rgba(245,248,242,0.6)', letterSpacing: 3, marginTop: 10 }}&gt;OF 04&lt;/Text&gt;&#13;&#10;  &lt;/Box&gt;&#13;&#10;&#13;&#10;  &lt;Box style={{ position: 'absolute', left: 72, top: 0, width: 560, height: 720, justifyContent: 'center' }}&gt;&#13;&#10;&#13;&#10;    &lt;Text style={{ fontFamily: 'Segoe UI', fontSize: 13, fontWeight: 600, color: '#A4DA22', letterSpacing: 2.6 }}&gt;THE PRODUCT&lt;/Text&gt;&#13;&#10;    &lt;Text style={{ fontFamily: 'Georgia', fontSize: 62, fontWeight: 'bold', color: '#F5F8F2', lineHeight: 1.1, letterSpacing: -0.8, marginTop: 16 }}&gt;What it is, and&lt;br /&gt;what it is not&lt;/Text&gt;&#13;&#10;    &lt;Box style={{ width: 88, height: 3, background: '#A4DA22', marginTop: 26, marginBottom: 24 }} /&gt;&#13;&#10;    &lt;Text style={{ fontFamily: 'Segoe UI', fontSize: 19, color: 'rgba(245,248,242,0.72)', lineHeight: 1.65, width: 480 }}&gt;&#13;&#10;      The field constraint that shaped every decision after it — and the boundary the product refuses to cross.&#13;&#10;    &lt;/Text&gt;&#13;&#10;&#13;&#10;    &lt;Box style={{ flexDirection: 'row', gap: 18, marginTop: 40 }}&gt;&#13;&#10;      &lt;Box style={{ width: 3, background: '#A4DA22' }} /&gt;&#13;&#10;      &lt;Box style={{ flex: 1 }}&gt;&#13;&#10;        &lt;Text style={{ fontFamily: 'Georgia', fontSize: 21, fontStyle: 'italic', color: '#F5F8F2', lineHeight: 1.55, width: 460 }}&gt;&#13;&#10;          A photo that fails a check is never turned into a diagnosis. It is sent back for a better shot.&#13;&#10;        &lt;/Text&gt;&#13;&#10;        &lt;Text style={{ fontFamily: 'Segoe UI', fontSize: 13, color: 'rgba(245,248,242,0.55)', marginTop: 12 }}&gt;Design rule, enforced in code — not in copy&lt;/Text&gt;&#13;&#10;      &lt;/Box&gt;&#13;&#10;    &lt;/Box&gt;&#13;&#10;&#13;&#10;    &lt;Box style={{ flexDirection: 'row', alignItems: 'center', gap: 12, marginTop: 40, borderTop: '1px solid rgba(245,248,242,0.22)', paddingTop: 16 }}&gt;&#13;&#10;      &lt;Text style={{ fontFamily: 'Segoe UI', fontSize: 12, color: 'rgba(245,248,242,0.55)', letterSpacing: 2 }}&gt;UP NEXT&lt;/Text&gt;&#13;&#10;      &lt;Text style={{ fontFamily: 'Segoe UI', fontSize: 14, color: '#F5F8F2' }}&gt;How a Scan Works · pages 06–09&lt;/Text&gt;&#13;&#10;    &lt;/Box&gt;&#13;&#10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F14"/>
          </a:solidFill>
          <a:ln/>
        </p:spPr>
        <p:txBody>
          <a:bodyPr/>
          <a:p/>
        </p:txBody>
      </p:sp>
      <p:sp>
        <p:nvSpPr>
          <p:cNvPr id="411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solidFill>
            <a:srgbClr val="056526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9429750" y="1895475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CHAPTER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486775" y="2085975"/>
            <a:ext cx="2647950" cy="2628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0" b="1" spc="150">
                <a:solidFill>
                  <a:srgbClr val="A4DA22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572625" y="48101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OF 04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85800" y="828675"/>
            <a:ext cx="533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95">
                <a:solidFill>
                  <a:srgbClr val="A4DA22"/>
                </a:solidFill>
                <a:latin typeface="Segoe UI"/>
                <a:ea typeface="Segoe UI"/>
              </a:rPr>
              <a:t>THE PRODUCT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85800" y="1133475"/>
            <a:ext cx="5334000" cy="15621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650" b="1" spc="-60">
                <a:solidFill>
                  <a:srgbClr val="F5F8F2"/>
                </a:solidFill>
                <a:latin typeface="Georgia"/>
                <a:ea typeface="Georgia"/>
              </a:rPr>
              <a:t>What it is, and</a:t>
            </a:r>
            <a:endParaRPr/>
          </a:p>
          <a:p>
            <a:pPr>
              <a:lnSpc>
                <a:spcPct val="110000"/>
              </a:lnSpc>
            </a:pPr>
            <a:r>
              <a:rPr lang="en-US" sz="4650" b="1" spc="-60">
                <a:solidFill>
                  <a:srgbClr val="F5F8F2"/>
                </a:solidFill>
                <a:latin typeface="Georgia"/>
                <a:ea typeface="Georgia"/>
              </a:rPr>
              <a:t>what it is not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85800" y="2943225"/>
            <a:ext cx="838200" cy="28575"/>
          </a:xfrm>
          <a:prstGeom prst="rect">
            <a:avLst/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85800" y="3200400"/>
            <a:ext cx="4572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425">
                <a:solidFill>
                  <a:srgbClr val="F5F8F2">
                    <a:alpha val="72000"/>
                  </a:srgbClr>
                </a:solidFill>
                <a:latin typeface="Segoe UI"/>
                <a:ea typeface="Segoe UI"/>
              </a:rPr>
              <a:t>The field constraint that shaped every decision after it — and the boundary the product refuses to cross.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85800" y="4305300"/>
            <a:ext cx="28575" cy="1019175"/>
          </a:xfrm>
          <a:prstGeom prst="rect">
            <a:avLst/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85825" y="4305300"/>
            <a:ext cx="43815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75" i="1">
                <a:solidFill>
                  <a:srgbClr val="F5F8F2"/>
                </a:solidFill>
                <a:latin typeface="Georgia"/>
                <a:ea typeface="Georgia"/>
              </a:rPr>
              <a:t>A photo that fails a check is never turned into a diagnosis. It is sent back for a better shot.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85825" y="5172075"/>
            <a:ext cx="5133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55000"/>
                  </a:srgbClr>
                </a:solidFill>
                <a:latin typeface="Segoe UI"/>
                <a:ea typeface="Segoe UI"/>
              </a:rPr>
              <a:t>Design rule, enforced in code — not in copy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85800" y="5705475"/>
            <a:ext cx="5334000" cy="333375"/>
          </a:xfrm>
          <a:custGeom>
            <a:pathLst>
              <a:path w="560" h="35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22000"/>
            </a:srgbClr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85800" y="5876925"/>
            <a:ext cx="581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5F8F2">
                    <a:alpha val="55000"/>
                  </a:srgbClr>
                </a:solidFill>
                <a:latin typeface="Segoe UI"/>
                <a:ea typeface="Segoe UI"/>
              </a:rPr>
              <a:t>UP NEXT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381125" y="5867400"/>
            <a:ext cx="1933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8F2"/>
                </a:solidFill>
                <a:latin typeface="Segoe UI"/>
                <a:ea typeface="Segoe UI"/>
              </a:rPr>
              <a:t>How a Scan Works · pages 06–09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25" name="" descr="&lt;Slide style={{ width: 1280, height: 720, padding: '20px 72px 0px 72px', background: '#F5F8F2', position: 'relative' }}&gt;&#13;&#10;&#13;&#10;  &lt;Box style={{ height: 108, justifyContent: 'center' }}&gt;&#13;&#10;    &lt;Text style={{ fontFamily: 'Segoe UI', fontSize: 13, fontWeight: 600, color: '#056526', letterSpacing: 2.4 }}&gt;WHY IT EXISTS&lt;/Text&gt;&#13;&#10;    &lt;Text style={{ fontFamily: 'Segoe UI', fontSize: 34, fontWeight: 700, color: '#0B1F14', letterSpacing: -0.6, marginTop: 8 }}&gt;Narrow on purpose&lt;/Text&gt;&#13;&#10;  &lt;/Box&gt;&#13;&#10;&#13;&#10;  &lt;Box style={{ height: 532, flexDirection: 'row', gap: 64 }}&gt;&#13;&#10;&#13;&#10;    &lt;Box style={{ width: 380, justifyContent: 'space-between' }}&gt;&#13;&#10;      &lt;Box&gt;&#13;&#10;        &lt;Text style={{ fontFamily: 'Georgia', fontSize: 150, fontWeight: 'bold', color: '#056526', lineHeight: 0.9, letterSpacing: -6 }}&gt;14&lt;/Text&gt;&#13;&#10;        &lt;Text style={{ fontFamily: 'Segoe UI', fontSize: 22, fontWeight: 600, color: '#0B1F14', marginTop: 18 }}&gt;disease classes&lt;/Text&gt;&#13;&#10;        &lt;Text style={{ fontFamily: 'Segoe UI', fontSize: 15, color: 'rgba(11,31,20,0.6)', marginTop: 8, lineHeight: 1.6 }}&gt;&#13;&#10;          8 for tomato, 6 for palay — each crop's set includes a healthy baseline, so the model is allowed to say &quot;nothing wrong&quot;.&#13;&#10;        &lt;/Text&gt;&#13;&#10;      &lt;/Box&gt;&#13;&#10;      &lt;Box&gt;&#13;&#10;        &lt;Box style={{ height: 1, background: 'rgba(11,31,20,0.12)', marginBottom: 18 }} /&gt;&#13;&#10;        &lt;Text style={{ fontFamily: 'Segoe UI', fontSize: 14, color: 'rgba(11,31,20,0.55)', lineHeight: 1.7 }}&gt;&#13;&#10;          A wider class list would have raised coverage on paper and lowered accuracy in the field. The scope was cut to two crops that are actually planted here.&#13;&#10;        &lt;/Text&gt;&#13;&#10;        &lt;Box style={{ borderTop: '1px solid rgba(11,31,20,0.12)', marginTop: 12, paddingTop: 10 }}&gt;&#13;&#10;          &lt;Text style={{ fontFamily: 'Segoe UI', fontSize: 12, fontWeight: 600, color: '#056526', letterSpacing: 1.6 }}&gt;THE BOUNDARY&lt;/Text&gt;&#13;&#10;          &lt;Text style={{ fontFamily: 'Segoe UI', fontSize: 13, color: 'rgba(11,31,20,0.6)', lineHeight: 1.6, marginTop: 6 }}&gt;&#13;&#10;            Anything outside these 14 classes is rejected with a reason, never labelled with a nearest match.&#13;&#10;          &lt;/Text&gt;&#13;&#10;        &lt;/Box&gt;&#13;&#10;      &lt;/Box&gt;&#13;&#10;    &lt;/Box&gt;&#13;&#10;&#13;&#10;    &lt;Box style={{ flex: 1, justifyContent: 'space-between' }}&gt;&#13;&#10;&#13;&#10;      &lt;Box style={{ flexDirection: 'row', gap: 22 }}&gt;&#13;&#10;        &lt;Text style={{ fontFamily: 'Georgia', fontSize: 24, fontWeight: 'bold', color: '#056526', width: 42 }}&gt;01&lt;/Text&gt;&#13;&#10;        &lt;Box style={{ flex: 1 }}&gt;&#13;&#10;          &lt;Text style={{ fontFamily: 'Segoe UI', fontSize: 20, fontWeight: 600, color: '#0B1F14' }}&gt;Diagnosis arrives late&lt;/Text&gt;&#13;&#10;          &lt;Text style={{ fontFamily: 'Segoe UI', fontSize: 16, color: 'rgba(11,31,20,0.62)', lineHeight: 1.65, marginTop: 8 }}&gt;&#13;&#10;            Lesions start on the lower, older leaves — the ones nobody photographs. By the time a trained eye walks the plot, the infection has usually moved up the canopy.&#13;&#10;          &lt;/Text&gt;&#13;&#10;        &lt;/Box&gt;&#13;&#10;      &lt;/Box&gt;&#13;&#10;&#13;&#10;      &lt;Box style={{ height: 1, background: 'rgba(11,31,20,0.12)' }} /&gt;&#13;&#10;&#13;&#10;      &lt;Box style={{ flexDirection: 'row', gap: 22 }}&gt;&#13;&#10;        &lt;Text style={{ fontFamily: 'Georgia', fontSize: 24, fontWeight: 'bold', color: '#056526', width: 42 }}&gt;02&lt;/Text&gt;&#13;&#10;        &lt;Box style={{ flex: 1 }}&gt;&#13;&#10;          &lt;Text style={{ fontFamily: 'Segoe UI', fontSize: 20, fontWeight: '600', color: '#0B1F14' }}&gt;Advisory capacity is thin&lt;/Text&gt;&#13;&#10;          &lt;Text style={{ fontFamily: 'Segoe UI', fontSize: 16, color: 'rgba(11,31,20,0.62)', lineHeight: 1.65, marginTop: 8 }}&gt;&#13;&#10;            One municipal agriculture office serves all ten barangays of Peñaranda. A farmer cannot wait three weeks for a site visit to identify a leaf.&#13;&#10;          &lt;/Text&gt;&#13;&#10;        &lt;/Box&gt;&#13;&#10;      &lt;/Box&gt;&#13;&#10;&#13;&#10;      &lt;Box style={{ height: 1, background: 'rgba(11,31,20,0.12)' }} /&gt;&#13;&#10;&#13;&#10;      &lt;Box style={{ flexDirection: 'row', gap: 22 }}&gt;&#13;&#10;        &lt;Text style={{ fontFamily: 'Georgia', fontSize: 24, fontWeight: 'bold', color: '#056526', width: 42 }}&gt;03&lt;/Text&gt;&#13;&#10;        &lt;Box style={{ flex: 1 }}&gt;&#13;&#10;          &lt;Text style={{ fontFamily: 'Segoe UI', fontSize: 20, fontWeight: '600', color: '#0B1F14' }}&gt;Findings never aggregate&lt;/Text&gt;&#13;&#10;          &lt;Text style={{ fontFamily: 'Segoe UI', fontSize: 16, color: 'rgba(11,31,20,0.62)', lineHeight: 1.65, marginTop: 8 }}&gt;&#13;&#10;            What a farmer sees stays in a notebook. The municipality learns about an outbreak from the harvest, not from the field.&#13;&#10;          &lt;/Text&gt;&#13;&#10;        &lt;/Box&gt;&#13;&#10;      &lt;/Box&gt;&#13;&#10;&#13;&#10;    &lt;/Box&gt;&#13;&#10;  &lt;/Box&gt;&#13;&#10;&#13;&#10;  &lt;Box style={{ height: 60, flexDirection: 'row', justifyContent: 'space-between', alignItems: 'flex-start', paddingTop: 16, borderTop: '1px solid rgba(11,31,20,0.1)' }}&gt;&#13;&#10;    &lt;Text style={{ fontFamily: 'Segoe UI', fontSize: 13, color: 'rgba(11,31,20,0.45)' }}&gt;AgriSuri PH · Product Scope&lt;/Text&gt;&#13;&#10;    &lt;Text style={{ fontFamily: 'Segoe UI', fontSize: 13, color: 'rgba(11,31,20,0.45)' }}&gt;04 / 19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2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056526"/>
                </a:solidFill>
                <a:latin typeface="Segoe UI"/>
                <a:ea typeface="Segoe UI"/>
              </a:rPr>
              <a:t>WHY IT EXISTS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0B1F14"/>
                </a:solidFill>
                <a:latin typeface="Segoe UI"/>
                <a:ea typeface="Segoe UI"/>
              </a:rPr>
              <a:t>Narrow on purpose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85800" y="1219200"/>
            <a:ext cx="3619500" cy="15430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1250" b="1" spc="-450">
                <a:solidFill>
                  <a:srgbClr val="056526"/>
                </a:solidFill>
                <a:latin typeface="Georgia"/>
                <a:ea typeface="Georgia"/>
              </a:rPr>
              <a:t>14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85800" y="293370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1F14"/>
                </a:solidFill>
                <a:latin typeface="Segoe UI"/>
                <a:ea typeface="Segoe UI"/>
              </a:rPr>
              <a:t>disease classes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85800" y="3267075"/>
            <a:ext cx="3619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8 for tomato, 6 for palay — each crop's set includes a healthy baseline, so the model is allowed to say "nothing wrong".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85800" y="4391025"/>
            <a:ext cx="3619500" cy="9525"/>
          </a:xfrm>
          <a:prstGeom prst="rect">
            <a:avLst/>
          </a:prstGeom>
          <a:solidFill>
            <a:srgbClr val="0B1F14">
              <a:alpha val="12000"/>
            </a:srgbClr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85800" y="4572000"/>
            <a:ext cx="36195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A wider class list would have raised coverage on paper and lowered accuracy in the field. The scope was cut to two crops that are actually planted here.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85800" y="5505450"/>
            <a:ext cx="3619500" cy="790575"/>
          </a:xfrm>
          <a:custGeom>
            <a:pathLst>
              <a:path w="380" h="83">
                <a:moveTo>
                  <a:pt x="0" y="0"/>
                </a:moveTo>
                <a:lnTo>
                  <a:pt x="380" y="0"/>
                </a:lnTo>
                <a:lnTo>
                  <a:pt x="380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85800" y="5610225"/>
            <a:ext cx="3619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56526"/>
                </a:solidFill>
                <a:latin typeface="Segoe UI"/>
                <a:ea typeface="Segoe UI"/>
              </a:rPr>
              <a:t>THE BOUNDARY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85800" y="5810250"/>
            <a:ext cx="3619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Anything outside these 14 classes is rejected with a reason, never labelled with a nearest match.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4914900" y="1219200"/>
            <a:ext cx="40005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56526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5524500" y="1219200"/>
            <a:ext cx="598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1F14"/>
                </a:solidFill>
                <a:latin typeface="Segoe UI"/>
                <a:ea typeface="Segoe UI"/>
              </a:rPr>
              <a:t>Diagnosis arrives late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5524500" y="1524000"/>
            <a:ext cx="59817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Lesions start on the lower, older leaves — the ones nobody photographs. By the time a trained eye walks the plot, the infection has usually moved up the canopy.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4914900" y="2714625"/>
            <a:ext cx="6591300" cy="9525"/>
          </a:xfrm>
          <a:prstGeom prst="rect">
            <a:avLst/>
          </a:prstGeom>
          <a:solidFill>
            <a:srgbClr val="0B1F14">
              <a:alpha val="12000"/>
            </a:srgbClr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4914900" y="3295650"/>
            <a:ext cx="40005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56526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5524500" y="3295650"/>
            <a:ext cx="598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1F14"/>
                </a:solidFill>
                <a:latin typeface="Segoe UI"/>
                <a:ea typeface="Segoe UI"/>
              </a:rPr>
              <a:t>Advisory capacity is thin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5524500" y="3600450"/>
            <a:ext cx="59817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One municipal agriculture office serves all ten barangays of Peñaranda. A farmer cannot wait three weeks for a site visit to identify a leaf.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4914900" y="4791075"/>
            <a:ext cx="6591300" cy="9525"/>
          </a:xfrm>
          <a:prstGeom prst="rect">
            <a:avLst/>
          </a:prstGeom>
          <a:solidFill>
            <a:srgbClr val="0B1F14">
              <a:alpha val="12000"/>
            </a:srgbClr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4914900" y="5372100"/>
            <a:ext cx="40005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56526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5524500" y="5372100"/>
            <a:ext cx="598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1F14"/>
                </a:solidFill>
                <a:latin typeface="Segoe UI"/>
                <a:ea typeface="Segoe UI"/>
              </a:rPr>
              <a:t>Findings never aggregate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5524500" y="5676900"/>
            <a:ext cx="59817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What a farmer sees stays in a notebook. The municipality learns about an outbreak from the harvest, not from the field.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04 / 19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51" name="" descr="&lt;Slide style={{ width: 1280, height: 720, padding: '20px 72px 0px 72px', background: '#0B1F14', position: 'relative' }}&gt;&#13;&#10;&#13;&#10;  &lt;Box style={{ height: 108, justifyContent: 'center' }}&gt;&#13;&#10;    &lt;Text style={{ fontFamily: 'Segoe UI', fontSize: 13, fontWeight: 600, color: '#A4DA22', letterSpacing: 2.4 }}&gt;THE PRODUCT&lt;/Text&gt;&#13;&#10;    &lt;Text style={{ fontFamily: 'Segoe UI', fontSize: 34, fontWeight: 700, color: '#F5F8F2', letterSpacing: -0.6, marginTop: 8 }}&gt;What AgriSuri is&lt;/Text&gt;&#13;&#10;  &lt;/Box&gt;&#13;&#10;&#13;&#10;  &lt;Box style={{ height: 532, flexDirection: 'row', gap: 56 }}&gt;&#13;&#10;&#13;&#10;    &lt;Box style={{ width: 700, justifyContent: 'space-between' }}&gt;&#13;&#10;      &lt;Box&gt;&#13;&#10;        &lt;Text style={{ fontFamily: 'Georgia', fontSize: 46, fontWeight: 'bold', color: '#F5F8F2', lineHeight: 1.24, letterSpacing: -0.6 }}&gt;&#13;&#10;          Photograph one leaf.&lt;br /&gt;Get a reading you can act on.&#13;&#10;        &lt;/Text&gt;&#13;&#10;        &lt;Text style={{ fontFamily: 'Segoe UI', fontSize: 17, color: 'rgba(245,248,242,0.72)', lineHeight: 1.72, marginTop: 24, width: 660 }}&gt;&#13;&#10;          A farmer picks a crop, photographs a single leaf, and gets the most likely disease with treatment, prevention and safety guidance — in English or Filipino. It runs in a phone browser, and it runs without a signal.&#13;&#10;        &lt;/Text&gt;&#13;&#10;      &lt;/Box&gt;&#13;&#10;&#13;&#10;      &lt;Box style={{ flexDirection: 'row', gap: 0, borderTop: '1px solid rgba(245,248,242,0.16)', borderBottom: '1px solid rgba(245,248,242,0.16)', paddingTop: 20, paddingBottom: 20, width: 660 }}&gt;&#13;&#10;        &lt;Box style={{ flex: 1 }}&gt;&#13;&#10;          &lt;Text style={{ fontFamily: 'Georgia', fontSize: 30, fontWeight: 'bold', color: '#F5F8F2', lineHeight: 1 }}&gt;12&lt;/Text&gt;&#13;&#10;          &lt;Text style={{ fontFamily: 'Segoe UI', fontSize: 13, color: 'rgba(245,248,242,0.6)', marginTop: 8, lineHeight: 1.5 }}&gt;disease states, plus 2 healthy baselines&lt;/Text&gt;&#13;&#10;        &lt;/Box&gt;&#13;&#10;        &lt;Box style={{ flex: 1, borderLeft: '1px solid rgba(245,248,242,0.16)', paddingLeft: 22 }}&gt;&#13;&#10;          &lt;Text style={{ fontFamily: 'Georgia', fontSize: 30, fontWeight: 'bold', color: '#F5F8F2', lineHeight: 1 }}&gt;2&lt;/Text&gt;&#13;&#10;          &lt;Text style={{ fontFamily: 'Segoe UI', fontSize: 13, color: 'rgba(245,248,242,0.6)', marginTop: 8, lineHeight: 1.5 }}&gt;crops: tomato (kamatis) and palay&lt;/Text&gt;&#13;&#10;        &lt;/Box&gt;&#13;&#10;        &lt;Box style={{ flex: 1, borderLeft: '1px solid rgba(245,248,242,0.16)', paddingLeft: 22 }}&gt;&#13;&#10;          &lt;Text style={{ fontFamily: 'Georgia', fontSize: 30, fontWeight: 'bold', color: '#F5F8F2', lineHeight: 1 }}&gt;2&lt;/Text&gt;&#13;&#10;          &lt;Text style={{ fontFamily: 'Segoe UI', fontSize: 13, color: 'rgba(245,248,242,0.6)', marginTop: 8, lineHeight: 1.5 }}&gt;languages in one interface: English, Filipino&lt;/Text&gt;&#13;&#10;        &lt;/Box&gt;&#13;&#10;      &lt;/Box&gt;&#13;&#10;&#13;&#10;      &lt;Box style={{ background: 'rgba(164,218,34,0.1)', borderLeft: '3px solid #A4DA22', padding: '18px 22px', width: 660 }}&gt;&#13;&#10;        &lt;Text style={{ fontFamily: 'Segoe UI', fontSize: 15, color: '#F5F8F2', lineHeight: 1.6 }}&gt;&#13;&#10;          &lt;span style={{ fontWeight: 700, color: '#A4DA22' }}&gt;It is not a diagnosis.&lt;/span&gt; The output is a preliminary reading. Confirmation still belongs to the municipal agriculturist — the app says so on every result.&#13;&#10;        &lt;/Text&gt;&#13;&#10;      &lt;/Box&gt;&#13;&#10;    &lt;/Box&gt;&#13;&#10;&#13;&#10;    &lt;Box style={{ flex: 1, justifyContent: 'space-between', borderLeft: '1px solid rgba(245,248,242,0.16)', paddingLeft: 34 }}&gt;&#13;&#10;&#13;&#10;      &lt;Box&gt;&#13;&#10;        &lt;Text style={{ fontFamily: 'Georgia', fontSize: 20, fontWeight: 'bold', color: '#A4DA22' }}&gt;01&lt;/Text&gt;&#13;&#10;        &lt;Text style={{ fontFamily: 'Segoe UI', fontSize: 18, fontWeight: 600, color: '#F5F8F2', marginTop: 6 }}&gt;Offline-first&lt;/Text&gt;&#13;&#10;        &lt;Text style={{ fontFamily: 'Segoe UI', fontSize: 14, color: 'rgba(245,248,242,0.6)', lineHeight: 1.6, marginTop: 4 }}&gt;The classifier can run on the device. No signal required.&lt;/Text&gt;&#13;&#10;      &lt;/Box&gt;&#13;&#10;&#13;&#10;      &lt;Box&gt;&#13;&#10;        &lt;Text style={{ fontFamily: 'Georgia', fontSize: 20, fontWeight: 'bold', color: '#A4DA22' }}&gt;02&lt;/Text&gt;&#13;&#10;        &lt;Text style={{ fontFamily: 'Segoe UI', fontSize: 18, fontWeight: 600, color: '#F5F8F2', marginTop: 6 }}&gt;Guided capture&lt;/Text&gt;&#13;&#10;        &lt;Text style={{ fontFamily: 'Segoe UI', fontSize: 14, color: 'rgba(245,248,242,0.6)', lineHeight: 1.6, marginTop: 4 }}&gt;Four gates reject a bad photo before any diagnosis runs.&lt;/Text&gt;&#13;&#10;      &lt;/Box&gt;&#13;&#10;&#13;&#10;      &lt;Box&gt;&#13;&#10;        &lt;Text style={{ fontFamily: 'Georgia', fontSize: 20, fontWeight: 'bold', color: '#A4DA22' }}&gt;03&lt;/Text&gt;&#13;&#10;        &lt;Text style={{ fontFamily: 'Segoe UI', fontSize: 18, fontWeight: 600, color: '#F5F8F2', marginTop: 6 }}&gt;Plain-language guidance&lt;/Text&gt;&#13;&#10;        &lt;Text style={{ fontFamily: 'Segoe UI', fontSize: 14, color: 'rgba(245,248,242,0.6)', lineHeight: 1.6, marginTop: 4 }}&gt;Treatment, prevention, safety — not a bare class label.&lt;/Text&gt;&#13;&#10;      &lt;/Box&gt;&#13;&#10;&#13;&#10;      &lt;Box&gt;&#13;&#10;        &lt;Text style={{ fontFamily: 'Georgia', fontSize: 20, fontWeight: 'bold', color: '#A4DA22' }}&gt;04&lt;/Text&gt;&#13;&#10;        &lt;Text style={{ fontFamily: 'Segoe UI', fontSize: 18, fontWeight: 600, color: '#F5F8F2', marginTop: 6 }}&gt;Scoped data&lt;/Text&gt;&#13;&#10;        &lt;Text style={{ fontFamily: 'Segoe UI', fontSize: 14, color: 'rgba(245,248,242,0.6)', lineHeight: 1.6, marginTop: 4 }}&gt;A farmer sees their own scans. An officer sees one municipality.&lt;/Text&gt;&#13;&#10;      &lt;/Box&gt;&#13;&#10;&#13;&#10;    &lt;/Box&gt;&#13;&#10;  &lt;/Box&gt;&#13;&#10;&#13;&#10;  &lt;Box style={{ height: 60, flexDirection: 'row', justifyContent: 'space-between', alignItems: 'flex-start', paddingTop: 16, borderTop: '1px solid rgba(245,248,242,0.16)' }}&gt;&#13;&#10;    &lt;Text style={{ fontFamily: 'Segoe UI', fontSize: 13, color: 'rgba(245,248,242,0.45)' }}&gt;AgriSuri PH · Product Scope&lt;/Text&gt;&#13;&#10;    &lt;Text style={{ fontFamily: 'Segoe UI', fontSize: 13, color: 'rgba(245,248,242,0.45)' }}&gt;05 / 19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F14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A4DA22"/>
                </a:solidFill>
                <a:latin typeface="Segoe UI"/>
                <a:ea typeface="Segoe UI"/>
              </a:rPr>
              <a:t>THE PRODUCT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F5F8F2"/>
                </a:solidFill>
                <a:latin typeface="Segoe UI"/>
                <a:ea typeface="Segoe UI"/>
              </a:rPr>
              <a:t>What AgriSuri is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85800" y="1219200"/>
            <a:ext cx="6667500" cy="1304925"/>
          </a:xfrm>
          <a:prstGeom prst="rect"/>
        </p:spPr>
        <p:txBody>
          <a:bodyPr wrap="none" lIns="0" tIns="0" rIns="0" bIns="0"/>
          <a:p>
            <a:pPr>
              <a:lnSpc>
                <a:spcPct val="124000"/>
              </a:lnSpc>
            </a:pPr>
            <a:r>
              <a:rPr lang="en-US" sz="3450" b="1" spc="-45">
                <a:solidFill>
                  <a:srgbClr val="F5F8F2"/>
                </a:solidFill>
                <a:latin typeface="Georgia"/>
                <a:ea typeface="Georgia"/>
              </a:rPr>
              <a:t>Photograph one leaf.</a:t>
            </a:r>
            <a:endParaRPr/>
          </a:p>
          <a:p>
            <a:pPr>
              <a:lnSpc>
                <a:spcPct val="124000"/>
              </a:lnSpc>
            </a:pPr>
            <a:r>
              <a:rPr lang="en-US" sz="3450" b="1" spc="-45">
                <a:solidFill>
                  <a:srgbClr val="F5F8F2"/>
                </a:solidFill>
                <a:latin typeface="Georgia"/>
                <a:ea typeface="Georgia"/>
              </a:rPr>
              <a:t>Get a reading you can act on.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85800" y="2752725"/>
            <a:ext cx="6286500" cy="1009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en-US" sz="1275">
                <a:solidFill>
                  <a:srgbClr val="F5F8F2">
                    <a:alpha val="72000"/>
                  </a:srgbClr>
                </a:solidFill>
                <a:latin typeface="Segoe UI"/>
                <a:ea typeface="Segoe UI"/>
              </a:rPr>
              <a:t>A farmer picks a crop, photographs a single leaf, and gets the most likely disease with treatment, prevention and safety guidance — in English or Filipino. It runs in a phone browser, and it runs without a signal.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85800" y="3943350"/>
            <a:ext cx="6286500" cy="1285875"/>
          </a:xfrm>
          <a:custGeom>
            <a:pathLst>
              <a:path w="660" h="135">
                <a:moveTo>
                  <a:pt x="0" y="0"/>
                </a:moveTo>
                <a:lnTo>
                  <a:pt x="660" y="0"/>
                </a:lnTo>
                <a:lnTo>
                  <a:pt x="6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16000"/>
            </a:srgbClr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685800" y="3943350"/>
            <a:ext cx="6286500" cy="1285875"/>
          </a:xfrm>
          <a:custGeom>
            <a:pathLst>
              <a:path w="660" h="135">
                <a:moveTo>
                  <a:pt x="0" y="134"/>
                </a:moveTo>
                <a:lnTo>
                  <a:pt x="660" y="134"/>
                </a:lnTo>
                <a:lnTo>
                  <a:pt x="660" y="135"/>
                </a:lnTo>
                <a:lnTo>
                  <a:pt x="0" y="135"/>
                </a:lnTo>
                <a:close/>
              </a:path>
            </a:pathLst>
          </a:custGeom>
          <a:solidFill>
            <a:srgbClr val="F5F8F2">
              <a:alpha val="16000"/>
            </a:srgbClr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85800" y="4143375"/>
            <a:ext cx="2095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5F8F2"/>
                </a:solidFill>
                <a:latin typeface="Georgia"/>
                <a:ea typeface="Georgia"/>
              </a:rPr>
              <a:t>12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85800" y="4562475"/>
            <a:ext cx="20955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disease states, plus 2 healthy baselines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2781300" y="4143375"/>
            <a:ext cx="2105025" cy="866775"/>
          </a:xfrm>
          <a:custGeom>
            <a:pathLst>
              <a:path w="221" h="91">
                <a:moveTo>
                  <a:pt x="0" y="0"/>
                </a:moveTo>
                <a:lnTo>
                  <a:pt x="1" y="0"/>
                </a:lnTo>
                <a:lnTo>
                  <a:pt x="1" y="91"/>
                </a:lnTo>
                <a:lnTo>
                  <a:pt x="0" y="91"/>
                </a:lnTo>
                <a:close/>
              </a:path>
            </a:pathLst>
          </a:custGeom>
          <a:solidFill>
            <a:srgbClr val="F5F8F2">
              <a:alpha val="16000"/>
            </a:srgbClr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3000375" y="4143375"/>
            <a:ext cx="18764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5F8F2"/>
                </a:solidFill>
                <a:latin typeface="Georgia"/>
                <a:ea typeface="Georgia"/>
              </a:rPr>
              <a:t>2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3000375" y="4562475"/>
            <a:ext cx="18764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crops: tomato (kamatis) and palay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4876800" y="4143375"/>
            <a:ext cx="2105025" cy="866775"/>
          </a:xfrm>
          <a:custGeom>
            <a:pathLst>
              <a:path w="221" h="91">
                <a:moveTo>
                  <a:pt x="0" y="0"/>
                </a:moveTo>
                <a:lnTo>
                  <a:pt x="1" y="0"/>
                </a:lnTo>
                <a:lnTo>
                  <a:pt x="1" y="91"/>
                </a:lnTo>
                <a:lnTo>
                  <a:pt x="0" y="91"/>
                </a:lnTo>
                <a:close/>
              </a:path>
            </a:pathLst>
          </a:custGeom>
          <a:solidFill>
            <a:srgbClr val="F5F8F2">
              <a:alpha val="16000"/>
            </a:srgbClr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5095875" y="4143375"/>
            <a:ext cx="18764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5F8F2"/>
                </a:solidFill>
                <a:latin typeface="Georgia"/>
                <a:ea typeface="Georgia"/>
              </a:rPr>
              <a:t>2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095875" y="4562475"/>
            <a:ext cx="18764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languages in one interface: English, Filipino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714375" y="5391150"/>
            <a:ext cx="6257925" cy="895350"/>
          </a:xfrm>
          <a:prstGeom prst="rect">
            <a:avLst/>
          </a:prstGeom>
          <a:solidFill>
            <a:srgbClr val="A4DA22">
              <a:alpha val="10000"/>
            </a:srgbClr>
          </a:solidFill>
          <a:ln/>
        </p:spPr>
        <p:txBody>
          <a:bodyPr/>
          <a:p/>
        </p:txBody>
      </p:sp>
      <p:sp>
        <p:nvSpPr>
          <p:cNvPr id="468" name=""/>
          <p:cNvSpPr/>
          <p:nvPr/>
        </p:nvSpPr>
        <p:spPr>
          <a:xfrm rot="0" flipH="0" flipV="0">
            <a:off x="685800" y="5391150"/>
            <a:ext cx="6286500" cy="895350"/>
          </a:xfrm>
          <a:custGeom>
            <a:pathLst>
              <a:path w="660" h="94">
                <a:moveTo>
                  <a:pt x="0" y="0"/>
                </a:moveTo>
                <a:lnTo>
                  <a:pt x="3" y="0"/>
                </a:lnTo>
                <a:lnTo>
                  <a:pt x="3" y="94"/>
                </a:lnTo>
                <a:lnTo>
                  <a:pt x="0" y="94"/>
                </a:lnTo>
                <a:close/>
              </a:path>
            </a:pathLst>
          </a:custGeom>
          <a:solidFill>
            <a:srgbClr val="A4DA22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923925" y="5562600"/>
            <a:ext cx="58388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A4DA22"/>
                </a:solidFill>
                <a:latin typeface="Segoe UI"/>
                <a:ea typeface="Segoe UI"/>
              </a:rPr>
              <a:t>It is not a diagnosis.</a:t>
            </a:r>
            <a:r>
              <a:rPr lang="en-US" sz="1125">
                <a:solidFill>
                  <a:srgbClr val="F5F8F2"/>
                </a:solidFill>
                <a:latin typeface="Segoe UI"/>
                <a:ea typeface="Segoe UI"/>
              </a:rPr>
              <a:t xml:space="preserve"> The output is a preliminary reading. Confirmation still belongs to the municipal agriculturist — the app says so on every result.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7886700" y="1219200"/>
            <a:ext cx="3629025" cy="5067300"/>
          </a:xfrm>
          <a:custGeom>
            <a:pathLst>
              <a:path w="381" h="532">
                <a:moveTo>
                  <a:pt x="0" y="0"/>
                </a:moveTo>
                <a:lnTo>
                  <a:pt x="1" y="0"/>
                </a:lnTo>
                <a:lnTo>
                  <a:pt x="1" y="532"/>
                </a:lnTo>
                <a:lnTo>
                  <a:pt x="0" y="532"/>
                </a:lnTo>
                <a:close/>
              </a:path>
            </a:pathLst>
          </a:custGeom>
          <a:solidFill>
            <a:srgbClr val="F5F8F2">
              <a:alpha val="16000"/>
            </a:srgbClr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220075" y="1219200"/>
            <a:ext cx="3286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A4DA22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220075" y="1504950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5F8F2"/>
                </a:solidFill>
                <a:latin typeface="Segoe UI"/>
                <a:ea typeface="Segoe UI"/>
              </a:rPr>
              <a:t>Offline-first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8220075" y="1752600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The classifier can run on the device. No signal required.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220075" y="2476500"/>
            <a:ext cx="3286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A4DA22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220075" y="2762250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5F8F2"/>
                </a:solidFill>
                <a:latin typeface="Segoe UI"/>
                <a:ea typeface="Segoe UI"/>
              </a:rPr>
              <a:t>Guided capture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220075" y="3009900"/>
            <a:ext cx="3286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Four gates reject a bad photo before any diagnosis runs.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8220075" y="3981450"/>
            <a:ext cx="3286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A4DA22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220075" y="4267200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5F8F2"/>
                </a:solidFill>
                <a:latin typeface="Segoe UI"/>
                <a:ea typeface="Segoe UI"/>
              </a:rPr>
              <a:t>Plain-language guidance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220075" y="4514850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Treatment, prevention, safety — not a bare class label.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220075" y="5238750"/>
            <a:ext cx="3286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A4DA22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8220075" y="5524500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5F8F2"/>
                </a:solidFill>
                <a:latin typeface="Segoe UI"/>
                <a:ea typeface="Segoe UI"/>
              </a:rPr>
              <a:t>Scoped data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8220075" y="5772150"/>
            <a:ext cx="3286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A farmer sees their own scans. An officer sees one municipality.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16000"/>
            </a:srgbClr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05 / 19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86" name="" descr="&lt;Slide style={{ width: 1280, height: 720, position: 'relative', overflow: 'hidden', background: '#0B1F14', padding: 0 }}&gt;&#13;&#10;&#13;&#10;  &lt;Box style={{ position: 'absolute', right: 0, top: 0, width: 500, height: 720, background: '#056526', alignItems: 'center', justifyContent: 'center' }}&gt;&#13;&#10;    &lt;Text style={{ fontFamily: 'Segoe UI', fontSize: 13, fontWeight: 600, color: 'rgba(245,248,242,0.6)', letterSpacing: 3 }}&gt;CHAPTER&lt;/Text&gt;&#13;&#10;    &lt;Text style={{ fontFamily: 'Georgia', fontSize: 230, fontWeight: 'bold', color: '#A4DA22', lineHeight: 1, letterSpacing: 2, marginTop: 4 }}&gt;02&lt;/Text&gt;&#13;&#10;    &lt;Text style={{ fontFamily: 'Segoe UI', fontSize: 13, fontWeight: 600, color: 'rgba(245,248,242,0.6)', letterSpacing: 3, marginTop: 10 }}&gt;OF 04&lt;/Text&gt;&#13;&#10;  &lt;/Box&gt;&#13;&#10;&#13;&#10;  &lt;Box style={{ position: 'absolute', left: 72, top: 0, width: 560, height: 720, justifyContent: 'center' }}&gt;&#13;&#10;&#13;&#10;    &lt;Text style={{ fontFamily: 'Segoe UI', fontSize: 13, fontWeight: 600, color: '#A4DA22', letterSpacing: 2.6 }}&gt;HOW A SCAN WORKS&lt;/Text&gt;&#13;&#10;    &lt;Text style={{ fontFamily: 'Georgia', fontSize: 62, fontWeight: 'bold', color: '#F5F8F2', lineHeight: 1.1, letterSpacing: -0.8, marginTop: 16 }}&gt;Five gates&lt;br /&gt;before a guess&lt;/Text&gt;&#13;&#10;    &lt;Box style={{ width: 88, height: 3, background: '#A4DA22', marginTop: 26, marginBottom: 24 }} /&gt;&#13;&#10;    &lt;Text style={{ fontFamily: 'Segoe UI', fontSize: 19, color: 'rgba(245,248,242,0.72)', lineHeight: 1.65, width: 480 }}&gt;&#13;&#10;      Every stage can end the scan. A bad photo is cheaper to reject than a wrong label is to trust.&#13;&#10;    &lt;/Text&gt;&#13;&#10;&#13;&#10;    &lt;Box style={{ flexDirection: 'row', gap: 18, marginTop: 40 }}&gt;&#13;&#10;      &lt;Box style={{ width: 3, background: '#A4DA22' }} /&gt;&#13;&#10;      &lt;Box style={{ flex: 1 }}&gt;&#13;&#10;        &lt;Text style={{ fontFamily: 'Georgia', fontSize: 21, fontStyle: 'italic', color: '#F5F8F2', lineHeight: 1.55, width: 460 }}&gt;&#13;&#10;          The most common failure in crop apps is not a weak model. It is a model that was asked a question it could not answer.&#13;&#10;        &lt;/Text&gt;&#13;&#10;        &lt;Text style={{ fontFamily: 'Segoe UI', fontSize: 13, color: 'rgba(245,248,242,0.55)', marginTop: 12 }}&gt;Why the gates exist at all&lt;/Text&gt;&#13;&#10;      &lt;/Box&gt;&#13;&#10;    &lt;/Box&gt;&#13;&#10;&#13;&#10;    &lt;Box style={{ flexDirection: 'row', alignItems: 'center', gap: 12, marginTop: 40, borderTop: '1px solid rgba(245,248,242,0.22)', paddingTop: 16 }}&gt;&#13;&#10;      &lt;Text style={{ fontFamily: 'Segoe UI', fontSize: 12, color: 'rgba(245,248,242,0.55)', letterSpacing: 2 }}&gt;UP NEXT&lt;/Text&gt;&#13;&#10;      &lt;Text style={{ fontFamily: 'Segoe UI', fontSize: 14, color: '#F5F8F2' }}&gt;The pipeline · pages 07–09&lt;/Text&gt;&#13;&#10;    &lt;/Box&gt;&#13;&#10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F14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solidFill>
            <a:srgbClr val="056526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429750" y="1895475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CHAPTER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334375" y="2085975"/>
            <a:ext cx="2952750" cy="2628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0" b="1" spc="150">
                <a:solidFill>
                  <a:srgbClr val="A4DA22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572625" y="48101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OF 04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85800" y="647700"/>
            <a:ext cx="533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95">
                <a:solidFill>
                  <a:srgbClr val="A4DA22"/>
                </a:solidFill>
                <a:latin typeface="Segoe UI"/>
                <a:ea typeface="Segoe UI"/>
              </a:rPr>
              <a:t>HOW A SCAN WORKS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85800" y="952500"/>
            <a:ext cx="5334000" cy="15621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650" b="1" spc="-60">
                <a:solidFill>
                  <a:srgbClr val="F5F8F2"/>
                </a:solidFill>
                <a:latin typeface="Georgia"/>
                <a:ea typeface="Georgia"/>
              </a:rPr>
              <a:t>Five gates</a:t>
            </a:r>
            <a:endParaRPr/>
          </a:p>
          <a:p>
            <a:pPr>
              <a:lnSpc>
                <a:spcPct val="110000"/>
              </a:lnSpc>
            </a:pPr>
            <a:r>
              <a:rPr lang="en-US" sz="4650" b="1" spc="-60">
                <a:solidFill>
                  <a:srgbClr val="F5F8F2"/>
                </a:solidFill>
                <a:latin typeface="Georgia"/>
                <a:ea typeface="Georgia"/>
              </a:rPr>
              <a:t>before a guess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85800" y="2762250"/>
            <a:ext cx="838200" cy="28575"/>
          </a:xfrm>
          <a:prstGeom prst="rect">
            <a:avLst/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685800" y="3019425"/>
            <a:ext cx="4572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425">
                <a:solidFill>
                  <a:srgbClr val="F5F8F2">
                    <a:alpha val="72000"/>
                  </a:srgbClr>
                </a:solidFill>
                <a:latin typeface="Segoe UI"/>
                <a:ea typeface="Segoe UI"/>
              </a:rPr>
              <a:t>Every stage can end the scan. A bad photo is cheaper to reject than a wrong label is to trust.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685800" y="4124325"/>
            <a:ext cx="28575" cy="1390650"/>
          </a:xfrm>
          <a:prstGeom prst="rect">
            <a:avLst/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85825" y="4124325"/>
            <a:ext cx="438150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75" i="1">
                <a:solidFill>
                  <a:srgbClr val="F5F8F2"/>
                </a:solidFill>
                <a:latin typeface="Georgia"/>
                <a:ea typeface="Georgia"/>
              </a:rPr>
              <a:t>The most common failure in crop apps is not a weak model. It is a model that was asked a question it could not answer.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85825" y="5362575"/>
            <a:ext cx="5133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55000"/>
                  </a:srgbClr>
                </a:solidFill>
                <a:latin typeface="Segoe UI"/>
                <a:ea typeface="Segoe UI"/>
              </a:rPr>
              <a:t>Why the gates exist at all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85800" y="5895975"/>
            <a:ext cx="5334000" cy="333375"/>
          </a:xfrm>
          <a:custGeom>
            <a:pathLst>
              <a:path w="560" h="35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22000"/>
            </a:srgbClr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85800" y="6067425"/>
            <a:ext cx="581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5F8F2">
                    <a:alpha val="55000"/>
                  </a:srgbClr>
                </a:solidFill>
                <a:latin typeface="Segoe UI"/>
                <a:ea typeface="Segoe UI"/>
              </a:rPr>
              <a:t>UP NEXT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381125" y="605790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8F2"/>
                </a:solidFill>
                <a:latin typeface="Segoe UI"/>
                <a:ea typeface="Segoe UI"/>
              </a:rPr>
              <a:t>The pipeline · pages 07–09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02" name="" descr="&lt;Slide style={{ width: 1280, height: 720, padding: '20px 72px 0px 72px', background: '#0B1F14', position: 'relative' }}&gt;&#13;&#10;&#13;&#10;  &lt;Box style={{ height: 108, justifyContent: 'center' }}&gt;&#13;&#10;    &lt;Text style={{ fontFamily: 'Segoe UI', fontSize: 13, fontWeight: 600, color: '#A4DA22', letterSpacing: 2.4 }}&gt;THE PIPELINE&lt;/Text&gt;&#13;&#10;    &lt;Text style={{ fontFamily: 'Segoe UI', fontSize: 34, fontWeight: 700, color: '#F5F8F2', letterSpacing: -0.6, marginTop: 8 }}&gt;Five gates before a diagnosis&lt;/Text&gt;&#13;&#10;  &lt;/Box&gt;&#13;&#10;&#13;&#10;  &lt;Box style={{ height: 532 }}&gt;&#13;&#10;&#13;&#10;    &lt;Box style={{ height: 44, flexDirection: 'row', justifyContent: 'space-between', alignItems: 'center' }}&gt;&#13;&#10;      &lt;Text style={{ fontFamily: 'Segoe UI', fontSize: 16, color: 'rgba(245,248,242,0.7)' }}&gt;&#13;&#10;        Cheap checks run first. The expensive model only sees what survives.&#13;&#10;      &lt;/Text&gt;&#13;&#10;      &lt;Text style={{ fontFamily: 'Segoe UI', fontSize: 13, color: 'rgba(245,248,242,0.45)', letterSpacing: 1.2 }}&gt;FOUR GATES · ONE CLASSIFIER&lt;/Text&gt;&#13;&#10;    &lt;/Box&gt;&#13;&#10;&#13;&#10;    &lt;Box style={{ height: 250, flexDirection: 'row', alignItems: 'flex-start', marginTop: 18 }}&gt;&#13;&#10;&#13;&#10;      &lt;Box style={{ width: 200, flexDirection: 'column' }}&gt;&#13;&#10;        &lt;Box style={{ height: 190, padding: 16, background: 'rgba(245,248,242,0.05)', border: '1px solid rgba(245,248,242,0.18)', borderRadius: 10, justifyContent: 'flex-start' }}&gt;&#13;&#10;          &lt;Text style={{ fontFamily: 'Segoe UI', fontSize: 11, fontWeight: 600, color: 'rgba(245,248,242,0.45)', letterSpacing: 1.4 }}&gt;STEP 0&lt;/Text&gt;&#13;&#10;          &lt;Box style={{ marginTop: 18 }}&gt;&#13;&#10;            &lt;Text style={{ fontFamily: 'Segoe UI', fontSize: 19, fontWeight: 600, color: '#F5F8F2' }}&gt;Quality&lt;/Text&gt;&#13;&#10;            &lt;Text style={{ fontFamily: 'Segoe UI', fontSize: 13, color: 'rgba(245,248,242,0.58)', lineHeight: 1.55, marginTop: 8 }}&gt;Brightness, clipping, focus and detail measured from the actual pixels.&lt;/Text&gt;&#13;&#10;          &lt;/Box&gt;&#13;&#10;        &lt;/Box&gt;&#13;&#10;        &lt;Text style={{ fontFamily: 'Segoe UI', fontSize: 11, fontWeight: 600, color: 'rgba(245,248,242,0.5)', letterSpacing: 1.4, marginTop: 12 }}&gt;FAIL → RETAKE&lt;/Text&gt;&#13;&#10;      &lt;/Box&gt;&#13;&#10;&#13;&#10;      &lt;Box style={{ width: 34, height: 190, alignItems: 'center', justifyContent: 'center' }}&gt;&#13;&#10;        &lt;Text style={{ fontFamily: 'Segoe UI', fontSize: 18, color: 'rgba(245,248,242,0.35)' }}&gt;→&lt;/Text&gt;&#13;&#10;      &lt;/Box&gt;&#13;&#10;&#13;&#10;      &lt;Box style={{ width: 200, flexDirection: 'column' }}&gt;&#13;&#10;        &lt;Box style={{ height: 190, padding: 16, background: 'rgba(245,248,242,0.05)', border: '1px solid rgba(245,248,242,0.18)', borderRadius: 10, justifyContent: 'flex-start' }}&gt;&#13;&#10;          &lt;Text style={{ fontFamily: 'Segoe UI', fontSize: 11, fontWeight: 600, color: 'rgba(245,248,242,0.45)', letterSpacing: 1.4 }}&gt;STEP 1&lt;/Text&gt;&#13;&#10;          &lt;Box style={{ marginTop: 18 }}&gt;&#13;&#10;            &lt;Text style={{ fontFamily: 'Segoe UI', fontSize: 19, fontWeight: 600, color: '#F5F8F2' }}&gt;Framing&lt;/Text&gt;&#13;&#10;            &lt;Text style={{ fontFamily: 'Segoe UI', fontSize: 13, color: 'rgba(245,248,242,0.58)', lineHeight: 1.55, marginTop: 8 }}&gt;Is one leaf inside the guide, and is it big enough to read?&lt;/Text&gt;&#13;&#10;          &lt;/Box&gt;&#13;&#10;        &lt;/Box&gt;&#13;&#10;        &lt;Text style={{ fontFamily: 'Segoe UI', fontSize: 11, fontWeight: 600, color: 'rgba(245,248,242,0.5)', letterSpacing: 1.4, marginTop: 12 }}&gt;FAIL → RETAKE&lt;/Text&gt;&#13;&#10;      &lt;/Box&gt;&#13;&#10;&#13;&#10;      &lt;Box style={{ width: 34, height: 190, alignItems: 'center', justifyContent: 'center' }}&gt;&#13;&#10;        &lt;Text style={{ fontFamily: 'Segoe UI', fontSize: 18, color: 'rgba(245,248,242,0.35)' }}&gt;→&lt;/Text&gt;&#13;&#10;      &lt;/Box&gt;&#13;&#10;&#13;&#10;      &lt;Box style={{ width: 200, flexDirection: 'column' }}&gt;&#13;&#10;        &lt;Box style={{ height: 190, padding: 16, background: 'rgba(245,248,242,0.05)', border: '1px solid rgba(245,248,242,0.18)', borderRadius: 10, justifyContent: 'flex-start' }}&gt;&#13;&#10;          &lt;Text style={{ fontFamily: 'Segoe UI', fontSize: 11, fontWeight: 600, color: 'rgba(245,248,242,0.45)', letterSpacing: 1.4 }}&gt;GATE 2&lt;/Text&gt;&#13;&#10;          &lt;Box style={{ marginTop: 18 }}&gt;&#13;&#10;            &lt;Text style={{ fontFamily: 'Segoe UI', fontSize: 19, fontWeight: 600, color: '#F5F8F2' }}&gt;Shape&lt;/Text&gt;&#13;&#10;            &lt;Text style={{ fontFamily: 'Segoe UI', fontSize: 13, color: 'rgba(245,248,242,0.58)', lineHeight: 1.55, marginTop: 8 }}&gt;Plant or leaf silhouette — versus a hand, a tool, soil or sky.&lt;/Text&gt;&#13;&#10;          &lt;/Box&gt;&#13;&#10;        &lt;/Box&gt;&#13;&#10;        &lt;Text style={{ fontFamily: 'Segoe UI', fontSize: 11, fontWeight: 600, color: 'rgba(245,248,242,0.5)', letterSpacing: 1.4, marginTop: 12 }}&gt;FAIL → REJECTED&lt;/Text&gt;&#13;&#10;      &lt;/Box&gt;&#13;&#10;&#13;&#10;      &lt;Box style={{ width: 34, height: 190, alignItems: 'center', justifyContent: 'center' }}&gt;&#13;&#10;        &lt;Text style={{ fontFamily: 'Segoe UI', fontSize: 18, color: 'rgba(245,248,242,0.35)' }}&gt;→&lt;/Text&gt;&#13;&#10;      &lt;/Box&gt;&#13;&#10;&#13;&#10;      &lt;Box style={{ width: 200, flexDirection: 'column' }}&gt;&#13;&#10;        &lt;Box style={{ height: 190, padding: 16, background: 'rgba(245,248,242,0.05)', border: '1px solid rgba(245,248,242,0.18)', borderRadius: 10, justifyContent: 'flex-start' }}&gt;&#13;&#10;          &lt;Text style={{ fontFamily: 'Segoe UI', fontSize: 11, fontWeight: 600, color: 'rgba(245,248,242,0.45)', letterSpacing: 1.4 }}&gt;GATE 3&lt;/Text&gt;&#13;&#10;          &lt;Box style={{ marginTop: 18 }}&gt;&#13;&#10;            &lt;Text style={{ fontFamily: 'Segoe UI', fontSize: 19, fontWeight: 600, color: '#F5F8F2' }}&gt;Texture&lt;/Text&gt;&#13;&#10;            &lt;Text style={{ fontFamily: 'Segoe UI', fontSize: 13, color: 'rgba(245,248,242,0.58)', lineHeight: 1.55, marginTop: 8 }}&gt;Leaf surface — versus wall, floor, fabric or paper. A green wall is not a leaf.&lt;/Text&gt;&#13;&#10;          &lt;/Box&gt;&#13;&#10;        &lt;/Box&gt;&#13;&#10;        &lt;Text style={{ fontFamily: 'Segoe UI', fontSize: 11, fontWeight: 600, color: 'rgba(245,248,242,0.5)', letterSpacing: 1.4, marginTop: 12 }}&gt;FAIL → REJECTED&lt;/Text&gt;&#13;&#10;      &lt;/Box&gt;&#13;&#10;&#13;&#10;      &lt;Box style={{ width: 34, height: 190, alignItems: 'center', justifyContent: 'center' }}&gt;&#13;&#10;        &lt;Text style={{ fontFamily: 'Segoe UI', fontSize: 18, color: '#A4DA22' }}&gt;→&lt;/Text&gt;&#13;&#10;      &lt;/Box&gt;&#13;&#10;&#13;&#10;      &lt;Box style={{ width: 200, flexDirection: 'column' }}&gt;&#13;&#10;        &lt;Box style={{ height: 190, padding: 16, background: 'rgba(164,218,34,0.12)', border: '1px solid #A4DA22', borderRadius: 10, justifyContent: 'flex-start' }}&gt;&#13;&#10;          &lt;Text style={{ fontFamily: 'Segoe UI', fontSize: 11, fontWeight: 600, color: '#A4DA22', letterSpacing: 1.4 }}&gt;CLASSIFIER&lt;/Text&gt;&#13;&#10;          &lt;Box style={{ marginTop: 18 }}&gt;&#13;&#10;            &lt;Text style={{ fontFamily: 'Segoe UI', fontSize: 19, fontWeight: 600, color: '#F5F8F2' }}&gt;Disease&lt;/Text&gt;&#13;&#10;            &lt;Text style={{ fontFamily: 'Segoe UI', fontSize: 13, color: 'rgba(245,248,242,0.7)', lineHeight: 1.55, marginTop: 8 }}&gt;14 classes across tomato and palay, each with a healthy baseline.&lt;/Text&gt;&#13;&#10;          &lt;/Box&gt;&#13;&#10;        &lt;/Box&gt;&#13;&#10;        &lt;Text style={{ fontFamily: 'Segoe UI', fontSize: 11, fontWeight: 600, color: '#A4DA22', letterSpacing: 1.4, marginTop: 12 }}&gt;PASS → RESULT&lt;/Text&gt;&#13;&#10;      &lt;/Box&gt;&#13;&#10;&#13;&#10;    &lt;/Box&gt;&#13;&#10;&#13;&#10;    &lt;Box style={{ height: 1, background: 'rgba(245,248,242,0.18)', marginTop: 24 }} /&gt;&#13;&#10;&#13;&#10;    &lt;Box style={{ flexDirection: 'row', paddingTop: 22 }}&gt;&#13;&#10;      &lt;Box style={{ width: 348, paddingRight: 28 }}&gt;&#13;&#10;        &lt;Text style={{ fontFamily: 'Georgia', fontSize: 17, fontWeight: 'bold', color: '#A4DA22' }}&gt;01&lt;/Text&gt;&#13;&#10;        &lt;Text style={{ fontFamily: 'Segoe UI', fontSize: 15, fontWeight: 600, color: '#F5F8F2', marginTop: 6 }}&gt;A retake is not a scan&lt;/Text&gt;&#13;&#10;        &lt;Text style={{ fontFamily: 'Segoe UI', fontSize: 13, color: 'rgba(245,248,242,0.58)', lineHeight: 1.6, marginTop: 6 }}&gt;Nothing is saved and no model is called. The counter does not move.&lt;/Text&gt;&#13;&#10;      &lt;/Box&gt;&#13;&#10;      &lt;Box style={{ width: 1, background: 'rgba(245,248,242,0.18)' }} /&gt;&#13;&#10;      &lt;Box style={{ width: 348, paddingLeft: 28, paddingRight: 28 }}&gt;&#13;&#10;        &lt;Text style={{ fontFamily: 'Georgia', fontSize: 17, fontWeight: 'bold', color: '#A4DA22' }}&gt;02&lt;/Text&gt;&#13;&#10;        &lt;Text style={{ fontFamily: 'Segoe UI', fontSize: 15, fontWeight: 600, color: '#F5F8F2', marginTop: 6 }}&gt;A rejection never advances&lt;/Text&gt;&#13;&#10;        &lt;Text style={{ fontFamily: 'Segoe UI', fontSize: 13, color: 'rgba(245,248,242,0.58)', lineHeight: 1.6, marginTop: 6 }}&gt;If the shape gate says &quot;not a plant&quot;, texture and disease never run.&lt;/Text&gt;&#13;&#10;      &lt;/Box&gt;&#13;&#10;      &lt;Box style={{ width: 1, background: 'rgba(245,248,242,0.18)' }} /&gt;&#13;&#10;      &lt;Box style={{ flex: 1, paddingLeft: 28 }}&gt;&#13;&#10;        &lt;Text style={{ fontFamily: 'Georgia', fontSize: 17, fontWeight: 'bold', color: '#A4DA22' }}&gt;03&lt;/Text&gt;&#13;&#10;        &lt;Text style={{ fontFamily: 'Segoe UI', fontSize: 15, fontWeight: 600, color: '#F5F8F2', marginTop: 6 }}&gt;Uncertain is never stored&lt;/Text&gt;&#13;&#10;        &lt;Text style={{ fontFamily: 'Segoe UI', fontSize: 13, color: 'rgba(245,248,242,0.58)', lineHeight: 1.6, marginTop: 6 }}&gt;Below 0.50 confidence the result is labelled uncertain and excluded from history.&lt;/Text&gt;&#13;&#10;      &lt;/Box&gt;&#13;&#10;    &lt;/Box&gt;&#13;&#10;&#13;&#10;  &lt;/Box&gt;&#13;&#10;&#13;&#10;  &lt;Box style={{ height: 60, flexDirection: 'row', justifyContent: 'space-between', alignItems: 'flex-start', paddingTop: 16, borderTop: '1px solid rgba(245,248,242,0.16)' }}&gt;&#13;&#10;    &lt;Text style={{ fontFamily: 'Segoe UI', fontSize: 13, color: 'rgba(245,248,242,0.45)' }}&gt;AgriSuri PH · Product Scope&lt;/Text&gt;&#13;&#10;    &lt;Text style={{ fontFamily: 'Segoe UI', fontSize: 13, color: 'rgba(245,248,242,0.45)' }}&gt;07 / 19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F14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A4DA22"/>
                </a:solidFill>
                <a:latin typeface="Segoe UI"/>
                <a:ea typeface="Segoe UI"/>
              </a:rPr>
              <a:t>THE PIPELINE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F5F8F2"/>
                </a:solidFill>
                <a:latin typeface="Segoe UI"/>
                <a:ea typeface="Segoe UI"/>
              </a:rPr>
              <a:t>Five gates before a diagnosis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85800" y="1333500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5F8F2">
                    <a:alpha val="70000"/>
                  </a:srgbClr>
                </a:solidFill>
                <a:latin typeface="Segoe UI"/>
                <a:ea typeface="Segoe UI"/>
              </a:rPr>
              <a:t>Cheap checks run first. The expensive model only sees what survives.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9496425" y="1352550"/>
            <a:ext cx="2009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90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FOUR GATES · ONE CLASSIFIER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85800" y="1809750"/>
            <a:ext cx="1905000" cy="1809750"/>
          </a:xfrm>
          <a:prstGeom prst="roundRect">
            <a:avLst>
              <a:gd name="adj" fmla="val 5263"/>
            </a:avLst>
          </a:prstGeom>
          <a:solidFill>
            <a:srgbClr val="F5F8F2">
              <a:alpha val="5000"/>
            </a:srgbClr>
          </a:solidFill>
          <a:ln w="12700">
            <a:solidFill>
              <a:srgbClr val="F5F8F2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38200" y="1962150"/>
            <a:ext cx="1600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0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STEP 0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838200" y="2266950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F8F2"/>
                </a:solidFill>
                <a:latin typeface="Segoe UI"/>
                <a:ea typeface="Segoe UI"/>
              </a:rPr>
              <a:t>Quality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38200" y="2562225"/>
            <a:ext cx="16002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F5F8F2">
                    <a:alpha val="58000"/>
                  </a:srgbClr>
                </a:solidFill>
                <a:latin typeface="Segoe UI"/>
                <a:ea typeface="Segoe UI"/>
              </a:rPr>
              <a:t>Brightness, clipping, focus and detail measured from the actual pixels.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85800" y="3733800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05">
                <a:solidFill>
                  <a:srgbClr val="F5F8F2">
                    <a:alpha val="50000"/>
                  </a:srgbClr>
                </a:solidFill>
                <a:latin typeface="Segoe UI"/>
                <a:ea typeface="Segoe UI"/>
              </a:rPr>
              <a:t>FAIL → RETAKE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2676525" y="2609850"/>
            <a:ext cx="15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F5F8F2">
                    <a:alpha val="35000"/>
                  </a:srgbClr>
                </a:solidFill>
                <a:latin typeface="Segoe UI"/>
                <a:ea typeface="Segoe UI"/>
              </a:rPr>
              <a:t>→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2914650" y="1809750"/>
            <a:ext cx="1905000" cy="1809750"/>
          </a:xfrm>
          <a:prstGeom prst="roundRect">
            <a:avLst>
              <a:gd name="adj" fmla="val 5263"/>
            </a:avLst>
          </a:prstGeom>
          <a:solidFill>
            <a:srgbClr val="F5F8F2">
              <a:alpha val="5000"/>
            </a:srgbClr>
          </a:solidFill>
          <a:ln w="12700">
            <a:solidFill>
              <a:srgbClr val="F5F8F2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3067050" y="1962150"/>
            <a:ext cx="1600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0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STEP 1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3067050" y="2266950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F8F2"/>
                </a:solidFill>
                <a:latin typeface="Segoe UI"/>
                <a:ea typeface="Segoe UI"/>
              </a:rPr>
              <a:t>Framing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3067050" y="2562225"/>
            <a:ext cx="1600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F5F8F2">
                    <a:alpha val="58000"/>
                  </a:srgbClr>
                </a:solidFill>
                <a:latin typeface="Segoe UI"/>
                <a:ea typeface="Segoe UI"/>
              </a:rPr>
              <a:t>Is one leaf inside the guide, and is it big enough to read?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2914650" y="3733800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05">
                <a:solidFill>
                  <a:srgbClr val="F5F8F2">
                    <a:alpha val="50000"/>
                  </a:srgbClr>
                </a:solidFill>
                <a:latin typeface="Segoe UI"/>
                <a:ea typeface="Segoe UI"/>
              </a:rPr>
              <a:t>FAIL → RETAKE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4905375" y="2609850"/>
            <a:ext cx="15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F5F8F2">
                    <a:alpha val="35000"/>
                  </a:srgbClr>
                </a:solidFill>
                <a:latin typeface="Segoe UI"/>
                <a:ea typeface="Segoe UI"/>
              </a:rPr>
              <a:t>→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5143500" y="1809750"/>
            <a:ext cx="1905000" cy="1809750"/>
          </a:xfrm>
          <a:prstGeom prst="roundRect">
            <a:avLst>
              <a:gd name="adj" fmla="val 5263"/>
            </a:avLst>
          </a:prstGeom>
          <a:solidFill>
            <a:srgbClr val="F5F8F2">
              <a:alpha val="5000"/>
            </a:srgbClr>
          </a:solidFill>
          <a:ln w="12700">
            <a:solidFill>
              <a:srgbClr val="F5F8F2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295900" y="1962150"/>
            <a:ext cx="1600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0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GATE 2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5295900" y="2266950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F8F2"/>
                </a:solidFill>
                <a:latin typeface="Segoe UI"/>
                <a:ea typeface="Segoe UI"/>
              </a:rPr>
              <a:t>Shape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295900" y="2562225"/>
            <a:ext cx="16002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F5F8F2">
                    <a:alpha val="58000"/>
                  </a:srgbClr>
                </a:solidFill>
                <a:latin typeface="Segoe UI"/>
                <a:ea typeface="Segoe UI"/>
              </a:rPr>
              <a:t>Plant or leaf silhouette — versus a hand, a tool, soil or sky.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5143500" y="3733800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05">
                <a:solidFill>
                  <a:srgbClr val="F5F8F2">
                    <a:alpha val="50000"/>
                  </a:srgbClr>
                </a:solidFill>
                <a:latin typeface="Segoe UI"/>
                <a:ea typeface="Segoe UI"/>
              </a:rPr>
              <a:t>FAIL → REJECTED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134225" y="2609850"/>
            <a:ext cx="15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F5F8F2">
                    <a:alpha val="35000"/>
                  </a:srgbClr>
                </a:solidFill>
                <a:latin typeface="Segoe UI"/>
                <a:ea typeface="Segoe UI"/>
              </a:rPr>
              <a:t>→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7372350" y="1809750"/>
            <a:ext cx="1905000" cy="1809750"/>
          </a:xfrm>
          <a:prstGeom prst="roundRect">
            <a:avLst>
              <a:gd name="adj" fmla="val 5263"/>
            </a:avLst>
          </a:prstGeom>
          <a:solidFill>
            <a:srgbClr val="F5F8F2">
              <a:alpha val="5000"/>
            </a:srgbClr>
          </a:solidFill>
          <a:ln w="12700">
            <a:solidFill>
              <a:srgbClr val="F5F8F2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524750" y="1962150"/>
            <a:ext cx="1600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0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GATE 3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524750" y="2266950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F8F2"/>
                </a:solidFill>
                <a:latin typeface="Segoe UI"/>
                <a:ea typeface="Segoe UI"/>
              </a:rPr>
              <a:t>Texture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7524750" y="2562225"/>
            <a:ext cx="16002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F5F8F2">
                    <a:alpha val="58000"/>
                  </a:srgbClr>
                </a:solidFill>
                <a:latin typeface="Segoe UI"/>
                <a:ea typeface="Segoe UI"/>
              </a:rPr>
              <a:t>Leaf surface — versus wall, floor, fabric or paper. A green wall is not a leaf.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372350" y="3733800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05">
                <a:solidFill>
                  <a:srgbClr val="F5F8F2">
                    <a:alpha val="50000"/>
                  </a:srgbClr>
                </a:solidFill>
                <a:latin typeface="Segoe UI"/>
                <a:ea typeface="Segoe UI"/>
              </a:rPr>
              <a:t>FAIL → REJECTED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363075" y="2609850"/>
            <a:ext cx="15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A4DA22"/>
                </a:solidFill>
                <a:latin typeface="Segoe UI"/>
                <a:ea typeface="Segoe UI"/>
              </a:rPr>
              <a:t>→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9601200" y="1809750"/>
            <a:ext cx="1905000" cy="1809750"/>
          </a:xfrm>
          <a:prstGeom prst="roundRect">
            <a:avLst>
              <a:gd name="adj" fmla="val 5263"/>
            </a:avLst>
          </a:prstGeom>
          <a:solidFill>
            <a:srgbClr val="A4DA22">
              <a:alpha val="12000"/>
            </a:srgbClr>
          </a:solidFill>
          <a:ln w="12700">
            <a:solidFill>
              <a:srgbClr val="A4DA22"/>
            </a:solidFill>
            <a:prstDash val="solid"/>
          </a:ln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753600" y="1962150"/>
            <a:ext cx="1600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05">
                <a:solidFill>
                  <a:srgbClr val="A4DA22"/>
                </a:solidFill>
                <a:latin typeface="Segoe UI"/>
                <a:ea typeface="Segoe UI"/>
              </a:rPr>
              <a:t>CLASSIFIER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9753600" y="2266950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F8F2"/>
                </a:solidFill>
                <a:latin typeface="Segoe UI"/>
                <a:ea typeface="Segoe UI"/>
              </a:rPr>
              <a:t>Disease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9753600" y="2562225"/>
            <a:ext cx="16002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F5F8F2">
                    <a:alpha val="70000"/>
                  </a:srgbClr>
                </a:solidFill>
                <a:latin typeface="Segoe UI"/>
                <a:ea typeface="Segoe UI"/>
              </a:rPr>
              <a:t>14 classes across tomato and palay, each with a healthy baseline.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9601200" y="3733800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05">
                <a:solidFill>
                  <a:srgbClr val="A4DA22"/>
                </a:solidFill>
                <a:latin typeface="Segoe UI"/>
                <a:ea typeface="Segoe UI"/>
              </a:rPr>
              <a:t>PASS → RESULT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85800" y="4419600"/>
            <a:ext cx="10820400" cy="9525"/>
          </a:xfrm>
          <a:prstGeom prst="rect">
            <a:avLst/>
          </a:prstGeom>
          <a:solidFill>
            <a:srgbClr val="F5F8F2">
              <a:alpha val="18000"/>
            </a:srgbClr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4DA22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85800" y="48958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8F2"/>
                </a:solidFill>
                <a:latin typeface="Segoe UI"/>
                <a:ea typeface="Segoe UI"/>
              </a:rPr>
              <a:t>A retake is not a scan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85800" y="5124450"/>
            <a:ext cx="30480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5F8F2">
                    <a:alpha val="58000"/>
                  </a:srgbClr>
                </a:solidFill>
                <a:latin typeface="Segoe UI"/>
                <a:ea typeface="Segoe UI"/>
              </a:rPr>
              <a:t>Nothing is saved and no model is called. The counter does not move.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4000500" y="4638675"/>
            <a:ext cx="9525" cy="962025"/>
          </a:xfrm>
          <a:prstGeom prst="rect">
            <a:avLst/>
          </a:prstGeom>
          <a:solidFill>
            <a:srgbClr val="F5F8F2">
              <a:alpha val="18000"/>
            </a:srgbClr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4276725" y="4638675"/>
            <a:ext cx="278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4DA22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4276725" y="4895850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8F2"/>
                </a:solidFill>
                <a:latin typeface="Segoe UI"/>
                <a:ea typeface="Segoe UI"/>
              </a:rPr>
              <a:t>A rejection never advances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4276725" y="5124450"/>
            <a:ext cx="27813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5F8F2">
                    <a:alpha val="58000"/>
                  </a:srgbClr>
                </a:solidFill>
                <a:latin typeface="Segoe UI"/>
                <a:ea typeface="Segoe UI"/>
              </a:rPr>
              <a:t>If the shape gate says "not a plant", texture and disease never run.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7324725" y="4638675"/>
            <a:ext cx="9525" cy="962025"/>
          </a:xfrm>
          <a:prstGeom prst="rect">
            <a:avLst/>
          </a:prstGeom>
          <a:solidFill>
            <a:srgbClr val="F5F8F2">
              <a:alpha val="18000"/>
            </a:srgbClr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600950" y="4638675"/>
            <a:ext cx="390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4DA22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600950" y="489585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8F2"/>
                </a:solidFill>
                <a:latin typeface="Segoe UI"/>
                <a:ea typeface="Segoe UI"/>
              </a:rPr>
              <a:t>Uncertain is never stored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7600950" y="5124450"/>
            <a:ext cx="39052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5F8F2">
                    <a:alpha val="58000"/>
                  </a:srgbClr>
                </a:solidFill>
                <a:latin typeface="Segoe UI"/>
                <a:ea typeface="Segoe UI"/>
              </a:rPr>
              <a:t>Below 0.50 confidence the result is labelled uncertain and excluded from history.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16000"/>
            </a:srgbClr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07 / 19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2"/>
          </a:solidFill>
          <a:ln/>
        </p:spPr>
        <p:txBody>
          <a:bodyPr/>
          <a:p>
            <a:pPr/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056526"/>
                </a:solidFill>
                <a:latin typeface="Segoe UI"/>
                <a:ea typeface="Segoe UI"/>
              </a:rPr>
              <a:t>DUAL MODE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0B1F14"/>
                </a:solidFill>
                <a:latin typeface="Segoe UI"/>
                <a:ea typeface="Segoe UI"/>
              </a:rPr>
              <a:t>Two ways to run the same scan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723900" y="1219200"/>
            <a:ext cx="6324600" cy="1876425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723900" y="1219200"/>
            <a:ext cx="6324600" cy="1876425"/>
          </a:xfrm>
          <a:custGeom>
            <a:pathLst>
              <a:path w="664" h="19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93"/>
                </a:lnTo>
                <a:cubicBezTo>
                  <a:pt x="4" y="195"/>
                  <a:pt x="5" y="197"/>
                  <a:pt x="7" y="197"/>
                </a:cubicBezTo>
                <a:cubicBezTo>
                  <a:pt x="3" y="197"/>
                  <a:pt x="0" y="193"/>
                  <a:pt x="0" y="1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56526"/>
          </a:solidFill>
          <a:ln/>
        </p:spPr>
        <p:txBody>
          <a:bodyPr/>
          <a:p>
            <a:pPr/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952500" y="1409700"/>
            <a:ext cx="771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35">
                <a:solidFill>
                  <a:srgbClr val="056526"/>
                </a:solidFill>
                <a:latin typeface="Segoe UI"/>
                <a:ea typeface="Segoe UI"/>
              </a:rPr>
              <a:t>ON-DEVICE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753100" y="1409700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works with no signal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952500" y="1647825"/>
            <a:ext cx="5829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B1F14"/>
                </a:solidFill>
                <a:latin typeface="Segoe UI"/>
                <a:ea typeface="Segoe UI"/>
              </a:rPr>
              <a:t>Offline classification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952500" y="1971675"/>
            <a:ext cx="5829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A TensorFlow.js model downloaded to the phone runs the four gates and the classifier locally. The page is cached by a service worker, so the app opens on a dead connection.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952500" y="2638425"/>
            <a:ext cx="5829300" cy="276225"/>
          </a:xfrm>
          <a:custGeom>
            <a:pathLst>
              <a:path w="612" h="29">
                <a:moveTo>
                  <a:pt x="0" y="0"/>
                </a:moveTo>
                <a:lnTo>
                  <a:pt x="612" y="0"/>
                </a:lnTo>
                <a:lnTo>
                  <a:pt x="612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952500" y="2762250"/>
            <a:ext cx="1581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Cost: ~1 MB runtime + weights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2781300" y="2762250"/>
            <a:ext cx="1962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Queue: IndexedDB, syncs on reconnect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723900" y="3305175"/>
            <a:ext cx="6324600" cy="2143125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723900" y="3305175"/>
            <a:ext cx="6324600" cy="2143125"/>
          </a:xfrm>
          <a:custGeom>
            <a:pathLst>
              <a:path w="664" h="22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221"/>
                </a:lnTo>
                <a:cubicBezTo>
                  <a:pt x="4" y="223"/>
                  <a:pt x="5" y="225"/>
                  <a:pt x="7" y="225"/>
                </a:cubicBezTo>
                <a:cubicBezTo>
                  <a:pt x="3" y="225"/>
                  <a:pt x="0" y="221"/>
                  <a:pt x="0" y="21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A4DA22"/>
          </a:solidFill>
          <a:ln/>
        </p:spPr>
        <p:txBody>
          <a:bodyPr/>
          <a:p>
            <a:pPr/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952500" y="3495675"/>
            <a:ext cx="676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35">
                <a:solidFill>
                  <a:srgbClr val="056526"/>
                </a:solidFill>
                <a:latin typeface="Segoe UI"/>
                <a:ea typeface="Segoe UI"/>
              </a:rPr>
              <a:t>GATEWAY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5991225" y="3495675"/>
            <a:ext cx="790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needs a session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952500" y="3733800"/>
            <a:ext cx="5829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B1F14"/>
                </a:solidFill>
                <a:latin typeface="Segoe UI"/>
                <a:ea typeface="Segoe UI"/>
              </a:rPr>
              <a:t>Online classification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952500" y="4057650"/>
            <a:ext cx="58293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A Supabase Edge Function calls a hosted Roboflow model. The API key lives only in the function environment — it never reaches the browser, and the function enforces a 12 requests/minute limit per user.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952500" y="4991100"/>
            <a:ext cx="5829300" cy="276225"/>
          </a:xfrm>
          <a:custGeom>
            <a:pathLst>
              <a:path w="612" h="29">
                <a:moveTo>
                  <a:pt x="0" y="0"/>
                </a:moveTo>
                <a:lnTo>
                  <a:pt x="612" y="0"/>
                </a:lnTo>
                <a:lnTo>
                  <a:pt x="612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952500" y="5114925"/>
            <a:ext cx="1933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Auth: valid JWT + active farmer profile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3133725" y="5114925"/>
            <a:ext cx="2019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Missing secret → model_not_configured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7505700" y="1219200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35">
                <a:solidFill>
                  <a:srgbClr val="056526"/>
                </a:solidFill>
                <a:latin typeface="Segoe UI"/>
                <a:ea typeface="Segoe UI"/>
              </a:rPr>
              <a:t>FALLBACK ORDER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7505700" y="1495425"/>
            <a:ext cx="4000500" cy="447675"/>
          </a:xfrm>
          <a:custGeom>
            <a:pathLst>
              <a:path w="420" h="47">
                <a:moveTo>
                  <a:pt x="0" y="46"/>
                </a:moveTo>
                <a:lnTo>
                  <a:pt x="420" y="46"/>
                </a:lnTo>
                <a:lnTo>
                  <a:pt x="420" y="47"/>
                </a:lnTo>
                <a:lnTo>
                  <a:pt x="0" y="47"/>
                </a:lnTo>
                <a:close/>
              </a:path>
            </a:pathLst>
          </a:custGeom>
          <a:solidFill>
            <a:srgbClr val="0B1F1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7505700" y="1495425"/>
            <a:ext cx="1714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56526"/>
                </a:solidFill>
                <a:latin typeface="Georgia"/>
                <a:ea typeface="Georgia"/>
              </a:rPr>
              <a:t>1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7791450" y="14954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Online gateway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791450" y="1685925"/>
            <a:ext cx="3714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Highest accuracy. Needs a session and a connection.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7505700" y="1933575"/>
            <a:ext cx="4000500" cy="542925"/>
          </a:xfrm>
          <a:custGeom>
            <a:pathLst>
              <a:path w="420" h="57">
                <a:moveTo>
                  <a:pt x="0" y="56"/>
                </a:moveTo>
                <a:lnTo>
                  <a:pt x="420" y="56"/>
                </a:lnTo>
                <a:lnTo>
                  <a:pt x="420" y="57"/>
                </a:lnTo>
                <a:lnTo>
                  <a:pt x="0" y="57"/>
                </a:lnTo>
                <a:close/>
              </a:path>
            </a:pathLst>
          </a:custGeom>
          <a:solidFill>
            <a:srgbClr val="0B1F1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7505700" y="2028825"/>
            <a:ext cx="1714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56526"/>
                </a:solidFill>
                <a:latin typeface="Georgia"/>
                <a:ea typeface="Georgia"/>
              </a:rPr>
              <a:t>2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7791450" y="20288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On-device model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7791450" y="2219325"/>
            <a:ext cx="3714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Works offline once the weights are downloaded.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505700" y="2562225"/>
            <a:ext cx="1714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56526"/>
                </a:solidFill>
                <a:latin typeface="Georgia"/>
                <a:ea typeface="Georgia"/>
              </a:rPr>
              <a:t>3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7791450" y="25622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Documented heuristic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791450" y="2752725"/>
            <a:ext cx="3714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No model at all. Recorded as heuristic_fallback.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7505700" y="3086100"/>
            <a:ext cx="4000500" cy="1085850"/>
          </a:xfrm>
          <a:prstGeom prst="roundRect">
            <a:avLst>
              <a:gd name="adj" fmla="val 7018"/>
            </a:avLst>
          </a:prstGeom>
          <a:solidFill>
            <a:srgbClr val="056526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7696200" y="3257550"/>
            <a:ext cx="36195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0B1F14">
                    <a:alpha val="70000"/>
                  </a:srgbClr>
                </a:solidFill>
                <a:latin typeface="Segoe UI"/>
                <a:ea typeface="Segoe UI"/>
              </a:rPr>
              <a:t>Whichever path ran is written into the result payload as its provenance. A heuristic reading is never displayed as if a model produced it.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7505700" y="4362450"/>
            <a:ext cx="4000500" cy="1066800"/>
          </a:xfrm>
          <a:custGeom>
            <a:pathLst>
              <a:path w="420" h="112">
                <a:moveTo>
                  <a:pt x="0" y="0"/>
                </a:moveTo>
                <a:lnTo>
                  <a:pt x="420" y="0"/>
                </a:lnTo>
                <a:lnTo>
                  <a:pt x="420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7505700" y="4505325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56526"/>
                </a:solidFill>
                <a:latin typeface="Segoe UI"/>
                <a:ea typeface="Segoe UI"/>
              </a:rPr>
              <a:t>WHAT THE TRADE-OFF COSTS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7505700" y="4705350"/>
            <a:ext cx="4000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The on-device model is smaller and measurably less accurate than the hosted one. That gap is the price of working where there is no signal at all.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7505700" y="5610225"/>
            <a:ext cx="4000500" cy="685800"/>
          </a:xfrm>
          <a:custGeom>
            <a:pathLst>
              <a:path w="420" h="72">
                <a:moveTo>
                  <a:pt x="0" y="0"/>
                </a:moveTo>
                <a:lnTo>
                  <a:pt x="420" y="0"/>
                </a:lnTo>
                <a:lnTo>
                  <a:pt x="420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7505700" y="5753100"/>
            <a:ext cx="4000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 i="1">
                <a:solidFill>
                  <a:srgbClr val="0B1F14">
                    <a:alpha val="70000"/>
                  </a:srgbClr>
                </a:solidFill>
                <a:latin typeface="Georgia"/>
                <a:ea typeface="Georgia"/>
              </a:rPr>
              <a:t>The offline model is the fallback, not the headline. It exists for the fields the gateway cannot reach.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08 / 19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2"/>
          </a:solidFill>
          <a:ln/>
        </p:spPr>
        <p:txBody>
          <a:bodyPr/>
          <a:p>
            <a:pPr/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056526"/>
                </a:solidFill>
                <a:latin typeface="Segoe UI"/>
                <a:ea typeface="Segoe UI"/>
              </a:rPr>
              <a:t>THE RESULT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0B1F14"/>
                </a:solidFill>
                <a:latin typeface="Segoe UI"/>
                <a:ea typeface="Segoe UI"/>
              </a:rPr>
              <a:t>What comes back to the farmer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685800" y="1219200"/>
            <a:ext cx="5810250" cy="4495800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0B1F14">
                <a:alpha val="10000"/>
              </a:srgbClr>
            </a:solidFill>
            <a:prstDash val="solid"/>
          </a:ln>
          <a:effectLst>
            <a:outerShdw blurRad="228600" dist="76200" dir="5400000">
              <a:srgbClr val="0B1F14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914400" y="1447800"/>
            <a:ext cx="600075" cy="219075"/>
          </a:xfrm>
          <a:prstGeom prst="roundRect">
            <a:avLst>
              <a:gd name="adj" fmla="val 17391"/>
            </a:avLst>
          </a:prstGeom>
          <a:solidFill>
            <a:srgbClr val="056526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009650" y="1485900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56526"/>
                </a:solidFill>
                <a:latin typeface="Segoe UI"/>
                <a:ea typeface="Segoe UI"/>
              </a:rPr>
              <a:t>Tomato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609725" y="1485900"/>
            <a:ext cx="828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Brgy. Sto. Tomas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5448300" y="1485900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Saved to history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914400" y="1857375"/>
            <a:ext cx="5353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LEADING READING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914400" y="2057400"/>
            <a:ext cx="5353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B1F14"/>
                </a:solidFill>
                <a:latin typeface="Georgia"/>
                <a:ea typeface="Georgia"/>
              </a:rPr>
              <a:t>Early Blight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914400" y="2466975"/>
            <a:ext cx="535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55000"/>
                  </a:srgbClr>
                </a:solidFill>
                <a:latin typeface="Segoe UI"/>
                <a:ea typeface="Segoe UI"/>
              </a:rPr>
              <a:t>Alternaria solani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914400" y="2800350"/>
            <a:ext cx="4667250" cy="57150"/>
          </a:xfrm>
          <a:prstGeom prst="roundRect">
            <a:avLst>
              <a:gd name="adj" fmla="val 50000"/>
            </a:avLst>
          </a:prstGeom>
          <a:solidFill>
            <a:srgbClr val="0B1F1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914400" y="2800350"/>
            <a:ext cx="2343150" cy="57150"/>
          </a:xfrm>
          <a:prstGeom prst="roundRect">
            <a:avLst>
              <a:gd name="adj" fmla="val 50000"/>
            </a:avLst>
          </a:prstGeom>
          <a:solidFill>
            <a:srgbClr val="056526"/>
          </a:solidFill>
          <a:ln/>
        </p:spPr>
        <p:txBody>
          <a:bodyPr/>
          <a:p>
            <a:pPr/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5695950" y="27527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56526"/>
                </a:solidFill>
                <a:latin typeface="Segoe UI"/>
                <a:ea typeface="Segoe UI"/>
              </a:rPr>
              <a:t>High band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914400" y="3048000"/>
            <a:ext cx="695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50000"/>
                  </a:srgbClr>
                </a:solidFill>
                <a:latin typeface="Segoe UI"/>
                <a:ea typeface="Segoe UI"/>
              </a:rPr>
              <a:t>Also possible: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704975" y="3048000"/>
            <a:ext cx="1514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70000"/>
                  </a:srgbClr>
                </a:solidFill>
                <a:latin typeface="Segoe UI"/>
                <a:ea typeface="Segoe UI"/>
              </a:rPr>
              <a:t>Septoria leaf spot · Late blight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914400" y="3362325"/>
            <a:ext cx="5353050" cy="847725"/>
          </a:xfrm>
          <a:custGeom>
            <a:pathLst>
              <a:path w="562" h="89">
                <a:moveTo>
                  <a:pt x="0" y="0"/>
                </a:moveTo>
                <a:lnTo>
                  <a:pt x="562" y="0"/>
                </a:lnTo>
                <a:lnTo>
                  <a:pt x="562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914400" y="3524250"/>
            <a:ext cx="5353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05">
                <a:solidFill>
                  <a:srgbClr val="056526"/>
                </a:solidFill>
                <a:latin typeface="Segoe UI"/>
                <a:ea typeface="Segoe UI"/>
              </a:rPr>
              <a:t>WHAT TO DO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914400" y="3724275"/>
            <a:ext cx="53530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70000"/>
                  </a:srgbClr>
                </a:solidFill>
                <a:latin typeface="Segoe UI"/>
                <a:ea typeface="Segoe UI"/>
              </a:rPr>
              <a:t>Remove and destroy badly infected lower leaves. Apply a registered chlorothalonil- or mancozeb-based fungicide, following the label interval while conditions stay humid.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914400" y="4333875"/>
            <a:ext cx="2581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05">
                <a:solidFill>
                  <a:srgbClr val="056526"/>
                </a:solidFill>
                <a:latin typeface="Segoe UI"/>
                <a:ea typeface="Segoe UI"/>
              </a:rPr>
              <a:t>PREVENT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914400" y="4533900"/>
            <a:ext cx="25812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65000"/>
                  </a:srgbClr>
                </a:solidFill>
                <a:latin typeface="Segoe UI"/>
                <a:ea typeface="Segoe UI"/>
              </a:rPr>
              <a:t>Rotate away from tomato and potato, stake for airflow, mulch, water at the base.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3686175" y="4333875"/>
            <a:ext cx="2581275" cy="866775"/>
          </a:xfrm>
          <a:prstGeom prst="roundRect">
            <a:avLst>
              <a:gd name="adj" fmla="val 6593"/>
            </a:avLst>
          </a:prstGeom>
          <a:solidFill>
            <a:srgbClr val="056526">
              <a:alpha val="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3800475" y="4429125"/>
            <a:ext cx="2352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05">
                <a:solidFill>
                  <a:srgbClr val="056526"/>
                </a:solidFill>
                <a:latin typeface="Segoe UI"/>
                <a:ea typeface="Segoe UI"/>
              </a:rPr>
              <a:t>SAFETY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3800475" y="4629150"/>
            <a:ext cx="23526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65000"/>
                  </a:srgbClr>
                </a:solidFill>
                <a:latin typeface="Segoe UI"/>
                <a:ea typeface="Segoe UI"/>
              </a:rPr>
              <a:t>Gloves and mask when spraying. Observe the pre-harvest interval.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914400" y="5353050"/>
            <a:ext cx="5353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B1F14">
                    <a:alpha val="40000"/>
                  </a:srgbClr>
                </a:solidFill>
                <a:latin typeface="Segoe UI"/>
                <a:ea typeface="Segoe UI"/>
              </a:rPr>
              <a:t>Preliminary reading — confirm with the municipal agriculturist.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953250" y="1219200"/>
            <a:ext cx="4552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56526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953250" y="1466850"/>
            <a:ext cx="455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F14"/>
                </a:solidFill>
                <a:latin typeface="Segoe UI"/>
                <a:ea typeface="Segoe UI"/>
              </a:rPr>
              <a:t>Label first, alternatives second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953250" y="1714500"/>
            <a:ext cx="4552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The model is more often right about the family than the species. Showing both keeps a near-miss visible.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953250" y="2657475"/>
            <a:ext cx="4552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56526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953250" y="2905125"/>
            <a:ext cx="455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F14"/>
                </a:solidFill>
                <a:latin typeface="Segoe UI"/>
                <a:ea typeface="Segoe UI"/>
              </a:rPr>
              <a:t>Confidence is a band, not a number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953250" y="3152775"/>
            <a:ext cx="4552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Raw probabilities are not calibrated. High is ≥ 0.75, medium ≥ 0.50, and below 0.50 the result is uncertain.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953250" y="4086225"/>
            <a:ext cx="4552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56526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953250" y="4333875"/>
            <a:ext cx="455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F14"/>
                </a:solidFill>
                <a:latin typeface="Segoe UI"/>
                <a:ea typeface="Segoe UI"/>
              </a:rPr>
              <a:t>Three blocks, in order of use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953250" y="4581525"/>
            <a:ext cx="455295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What to do today, how to stop it returning, and what to wear while doing it.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953250" y="5257800"/>
            <a:ext cx="4552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56526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953250" y="5505450"/>
            <a:ext cx="455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F14"/>
                </a:solidFill>
                <a:latin typeface="Segoe UI"/>
                <a:ea typeface="Segoe UI"/>
              </a:rPr>
              <a:t>Traceable by default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953250" y="5753100"/>
            <a:ext cx="4552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Crop, barangay and date travel with the result, so a row in the history can be explained later.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09 / 19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5" name="" descr="&lt;Slide style={{ width: 1280, height: 720, position: 'relative', overflow: 'hidden', background: '#0B1F14', padding: 0 }}&gt;&#13;&#10;&#13;&#10;  &lt;Box style={{ position: 'absolute', right: 0, top: 0, width: 500, height: 720, background: '#056526', alignItems: 'center', justifyContent: 'center' }}&gt;&#13;&#10;    &lt;Text style={{ fontFamily: 'Segoe UI', fontSize: 13, fontWeight: 600, color: 'rgba(245,248,242,0.6)', letterSpacing: 3 }}&gt;CHAPTER&lt;/Text&gt;&#13;&#10;    &lt;Text style={{ fontFamily: 'Georgia', fontSize: 230, fontWeight: 'bold', color: '#A4DA22', lineHeight: 1, letterSpacing: 2, marginTop: 4 }}&gt;03&lt;/Text&gt;&#13;&#10;    &lt;Text style={{ fontFamily: 'Segoe UI', fontSize: 13, fontWeight: 600, color: 'rgba(245,248,242,0.6)', letterSpacing: 3, marginTop: 10 }}&gt;OF 04&lt;/Text&gt;&#13;&#10;  &lt;/Box&gt;&#13;&#10;&#13;&#10;  &lt;Box style={{ position: 'absolute', left: 72, top: 0, width: 560, height: 720, justifyContent: 'center' }}&gt;&#13;&#10;&#13;&#10;    &lt;Text style={{ fontFamily: 'Segoe UI', fontSize: 13, fontWeight: 600, color: '#A4DA22', letterSpacing: 2.6 }}&gt;WHO IT SERVES&lt;/Text&gt;&#13;&#10;    &lt;Text style={{ fontFamily: 'Georgia', fontSize: 62, fontWeight: 'bold', color: '#F5F8F2', lineHeight: 1.1, letterSpacing: -0.8, marginTop: 16 }}&gt;Three roles,&lt;br /&gt;three sightlines&lt;/Text&gt;&#13;&#10;    &lt;Box style={{ width: 88, height: 3, background: '#A4DA22', marginTop: 26, marginBottom: 24 }} /&gt;&#13;&#10;    &lt;Text style={{ fontFamily: 'Segoe UI', fontSize: 19, color: 'rgba(245,248,242,0.72)', lineHeight: 1.65, width: 480 }}&gt;&#13;&#10;      A farmer, an agriculture officer, an administrator. Each sees a different slice of the same data — and the slice is enforced by the database, not the menu.&#13;&#10;    &lt;/Text&gt;&#13;&#10;&#13;&#10;    &lt;Box style={{ flexDirection: 'row', gap: 18, marginTop: 40 }}&gt;&#13;&#10;      &lt;Box style={{ width: 3, background: '#A4DA22' }} /&gt;&#13;&#10;      &lt;Box style={{ flex: 1 }}&gt;&#13;&#10;        &lt;Text style={{ fontFamily: 'Georgia', fontSize: 21, fontStyle: 'italic', color: '#F5F8F2', lineHeight: 1.55, width: 460 }}&gt;&#13;&#10;          Hiding a button is not a permission. Every read and write is filtered by row-level security before it leaves the server.&#13;&#10;        &lt;/Text&gt;&#13;&#10;        &lt;Text style={{ fontFamily: 'Segoe UI', fontSize: 13, color: 'rgba(245,248,242,0.55)', marginTop: 12 }}&gt;The rule the whole chapter rests on&lt;/Text&gt;&#13;&#10;      &lt;/Box&gt;&#13;&#10;    &lt;/Box&gt;&#13;&#10;&#13;&#10;    &lt;Box style={{ flexDirection: 'row', alignItems: 'center', gap: 12, marginTop: 40, borderTop: '1px solid rgba(245,248,242,0.22)', paddingTop: 16 }}&gt;&#13;&#10;      &lt;Text style={{ fontFamily: 'Segoe UI', fontSize: 12, color: 'rgba(245,248,242,0.55)', letterSpacing: 2 }}&gt;UP NEXT&lt;/Text&gt;&#13;&#10;      &lt;Text style={{ fontFamily: 'Segoe UI', fontSize: 14, color: '#F5F8F2' }}&gt;The farmer workspace · pages 11–13&lt;/Text&gt;&#13;&#10;    &lt;/Box&gt;&#13;&#10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F14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solidFill>
            <a:srgbClr val="056526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429750" y="1895475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CHAPTER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343900" y="2085975"/>
            <a:ext cx="2943225" cy="2628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0" b="1" spc="150">
                <a:solidFill>
                  <a:srgbClr val="A4DA22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572625" y="48101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OF 04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85800" y="466725"/>
            <a:ext cx="533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95">
                <a:solidFill>
                  <a:srgbClr val="A4DA22"/>
                </a:solidFill>
                <a:latin typeface="Segoe UI"/>
                <a:ea typeface="Segoe UI"/>
              </a:rPr>
              <a:t>WHO IT SERVES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85800" y="771525"/>
            <a:ext cx="5334000" cy="15621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650" b="1" spc="-60">
                <a:solidFill>
                  <a:srgbClr val="F5F8F2"/>
                </a:solidFill>
                <a:latin typeface="Georgia"/>
                <a:ea typeface="Georgia"/>
              </a:rPr>
              <a:t>Three roles,</a:t>
            </a:r>
            <a:endParaRPr/>
          </a:p>
          <a:p>
            <a:pPr>
              <a:lnSpc>
                <a:spcPct val="110000"/>
              </a:lnSpc>
            </a:pPr>
            <a:r>
              <a:rPr lang="en-US" sz="4650" b="1" spc="-60">
                <a:solidFill>
                  <a:srgbClr val="F5F8F2"/>
                </a:solidFill>
                <a:latin typeface="Georgia"/>
                <a:ea typeface="Georgia"/>
              </a:rPr>
              <a:t>three sightlines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85800" y="2581275"/>
            <a:ext cx="838200" cy="28575"/>
          </a:xfrm>
          <a:prstGeom prst="rect">
            <a:avLst/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2838450"/>
            <a:ext cx="4572000" cy="1076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425">
                <a:solidFill>
                  <a:srgbClr val="F5F8F2">
                    <a:alpha val="72000"/>
                  </a:srgbClr>
                </a:solidFill>
                <a:latin typeface="Segoe UI"/>
                <a:ea typeface="Segoe UI"/>
              </a:rPr>
              <a:t>A farmer, an agriculture officer, an administrator. Each sees a different slice of the same data — and the slice is enforced by the database, not the menu.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85800" y="4295775"/>
            <a:ext cx="28575" cy="1390650"/>
          </a:xfrm>
          <a:prstGeom prst="rect">
            <a:avLst/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85825" y="4295775"/>
            <a:ext cx="438150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75" i="1">
                <a:solidFill>
                  <a:srgbClr val="F5F8F2"/>
                </a:solidFill>
                <a:latin typeface="Georgia"/>
                <a:ea typeface="Georgia"/>
              </a:rPr>
              <a:t>Hiding a button is not a permission. Every read and write is filtered by row-level security before it leaves the server.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85825" y="5534025"/>
            <a:ext cx="5133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55000"/>
                  </a:srgbClr>
                </a:solidFill>
                <a:latin typeface="Segoe UI"/>
                <a:ea typeface="Segoe UI"/>
              </a:rPr>
              <a:t>The rule the whole chapter rests on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85800" y="6067425"/>
            <a:ext cx="5334000" cy="333375"/>
          </a:xfrm>
          <a:custGeom>
            <a:pathLst>
              <a:path w="560" h="35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22000"/>
            </a:srgbClr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85800" y="6238875"/>
            <a:ext cx="581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5F8F2">
                    <a:alpha val="55000"/>
                  </a:srgbClr>
                </a:solidFill>
                <a:latin typeface="Segoe UI"/>
                <a:ea typeface="Segoe UI"/>
              </a:rPr>
              <a:t>UP NEXT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381125" y="622935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8F2"/>
                </a:solidFill>
                <a:latin typeface="Segoe UI"/>
                <a:ea typeface="Segoe UI"/>
              </a:rPr>
              <a:t>The farmer workspace · pages 11–13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1" name="" descr="&lt;Slide style={{ width: 1280, height: 720, padding: '20px 72px 0px 72px', background: '#F5F8F2', position: 'relative' }}&gt;&#13;&#10;&#13;&#10;  &lt;Box style={{ height: 108, flexDirection: 'row', alignItems: 'center', justifyContent: 'space-between' }}&gt;&#13;&#10;    &lt;Box&gt;&#13;&#10;      &lt;Text style={{ fontFamily: 'Segoe UI', fontSize: 13, fontWeight: 600, color: '#056526', letterSpacing: 2.4 }}&gt;ROLE 01 · FARMER&lt;/Text&gt;&#13;&#10;      &lt;Text style={{ fontFamily: 'Segoe UI', fontSize: 34, fontWeight: 700, color: '#0B1F14', letterSpacing: -0.6, marginTop: 8 }}&gt;The farmer workspace&lt;/Text&gt;&#13;&#10;    &lt;/Box&gt;&#13;&#10;    &lt;Text style={{ fontFamily: 'Segoe UI', fontSize: 12, color: 'rgba(11,31,20,0.42)', width: 250, textAlign: 'right', lineHeight: 1.55 }}&gt;&#13;&#10;      Interface schematic — layout and labels from the build, not a live screenshot&#13;&#10;    &lt;/Text&gt;&#13;&#10;  &lt;/Box&gt;&#13;&#10;&#13;&#10;  &lt;Box style={{ height: 532, flexDirection: 'row', gap: 48 }}&gt;&#13;&#10;&#13;&#10;    &lt;Box style={{ width: 604 }}&gt;&#13;&#10;      &lt;Box style={{ width: 604, height: 468, background: '#FFFFFF', border: '1px solid rgba(11,31,20,0.12)', borderRadius: 12, flexDirection: 'row', overflow: 'hidden', boxShadow: '0 10px 30px rgba(11,31,20,0.08)' }}&gt;&#13;&#10;&#13;&#10;        &lt;Box style={{ width: 148, background: '#0B1F14', padding: '16px 12px', justifyContent: 'space-between' }}&gt;&#13;&#10;          &lt;Box&gt;&#13;&#10;            &lt;Box style={{ flexDirection: 'row', alignItems: 'center', gap: 8 }}&gt;&#13;&#10;              &lt;Image src='assets/logo.png' style={{ width: 20, height: 20 }} /&gt;&#13;&#10;              &lt;Text style={{ fontFamily: 'Segoe UI', fontSize: 11, fontWeight: 700, color: '#F5F8F2' }}&gt;AgriSuri PH&lt;/Text&gt;&#13;&#10;            &lt;/Box&gt;&#13;&#10;            &lt;Box style={{ marginTop: 22 }}&gt;&#13;&#10;              &lt;Box style={{ flexDirection: 'row', alignItems: 'center', gap: 8, background: 'rgba(164,218,34,0.16)', borderRadius: 6, padding: '7px 8px' }}&gt;&#13;&#10;                &lt;Box style={{ width: 4, height: 12, background: '#A4DA22', borderRadius: 2 }} /&gt;&#13;&#10;                &lt;Text style={{ fontFamily: 'Segoe UI', fontSize: 11, fontWeight: 600, color: '#A4DA22' }}&gt;Dashboard&lt;/Text&gt;&#13;&#10;              &lt;/Box&gt;&#13;&#10;              &lt;Box style={{ flexDirection: 'row', alignItems: 'center', gap: 8, padding: '7px 8px', marginTop: 2 }}&gt;&#13;&#10;                &lt;Box style={{ width: 4, height: 12, background: 'rgba(245,248,242,0.25)', borderRadius: 2 }} /&gt;&#13;&#10;                &lt;Text style={{ fontFamily: 'Segoe UI', fontSize: 11, color: 'rgba(245,248,242,0.6)' }}&gt;Scan Crops&lt;/Text&gt;&#13;&#10;              &lt;/Box&gt;&#13;&#10;              &lt;Box style={{ flexDirection: 'row', alignItems: 'center', gap: 8, padding: '7px 8px', marginTop: 2 }}&gt;&#13;&#10;                &lt;Box style={{ width: 4, height: 12, background: 'rgba(245,248,242,0.25)', borderRadius: 2 }} /&gt;&#13;&#10;                &lt;Text style={{ fontFamily: 'Segoe UI', fontSize: 11, color: 'rgba(245,248,242,0.6)' }}&gt;Analytics&lt;/Text&gt;&#13;&#10;              &lt;/Box&gt;&#13;&#10;            &lt;/Box&gt;&#13;&#10;          &lt;/Box&gt;&#13;&#10;          &lt;Box style={{ flexDirection: 'row', alignItems: 'center', gap: 8 }}&gt;&#13;&#10;            &lt;Box style={{ width: 22, height: 22, borderRadius: 11, background: '#056526', alignItems: 'center', justifyContent: 'center' }}&gt;&#13;&#10;              &lt;Text style={{ fontFamily: 'Segoe UI', fontSize: 10, fontWeight: 700, color: '#F5F8F2' }}&gt;R&lt;/Text&gt;&#13;&#10;            &lt;/Box&gt;&#13;&#10;            &lt;Text style={{ fontFamily: 'Segoe UI', fontSize: 10, color: 'rgba(245,248,242,0.55)' }}&gt;Farmer&lt;/Text&gt;&#13;&#10;          &lt;/Box&gt;&#13;&#10;        &lt;/Box&gt;&#13;&#10;&#13;&#10;        &lt;Box style={{ flex: 1, padding: 16 }}&gt;&#13;&#10;          &lt;Box style={{ flexDirection: 'row', justifyContent: 'space-between', alignItems: 'center' }}&gt;&#13;&#10;            &lt;Box&gt;&#13;&#10;              &lt;Text style={{ fontFamily: 'Segoe UI', fontSize: 13, fontWeight: 600, color: '#0B1F14' }}&gt;Peñaranda, Nueva Ecija&lt;/Text&gt;&#13;&#10;              &lt;Text style={{ fontFamily: 'Segoe UI', fontSize: 10, color: 'rgba(11,31,20,0.5)' }}&gt;Barangay Sto. Tomas&lt;/Text&gt;&#13;&#10;            &lt;/Box&gt;&#13;&#10;            &lt;Box style={{ flexDirection: 'row', gap: 6 }}&gt;&#13;&#10;              &lt;Box style={{ border: '1px solid rgba(11,31,20,0.15)', borderRadius: 4, padding: '3px 7px' }}&gt;&#13;&#10;                &lt;Text style={{ fontFamily: 'Segoe UI', fontSize: 9, color: 'rgba(11,31,20,0.6)' }}&gt;FIL&lt;/Text&gt;&#13;&#10;              &lt;/Box&gt;&#13;&#10;              &lt;Box style={{ background: 'rgba(5,101,38,0.08)', borderRadius: 4, padding: '3px 7px' }}&gt;&#13;&#10;                &lt;Text style={{ fontFamily: 'Segoe UI', fontSize: 9, color: '#056526' }}&gt;Sample data&lt;/Text&gt;&#13;&#10;              &lt;/Box&gt;&#13;&#10;            &lt;/Box&gt;&#13;&#10;          &lt;/Box&gt;&#13;&#10;&#13;&#10;          &lt;Box style={{ background: '#056526', borderRadius: 8, padding: 14, marginTop: 12, flexDirection: 'row', justifyContent: 'space-between', alignItems: 'center' }}&gt;&#13;&#10;            &lt;Box&gt;&#13;&#10;              &lt;Text style={{ fontFamily: 'Segoe UI', fontSize: 9, color: 'rgba(245,248,242,0.65)' }}&gt;Welcome back&lt;/Text&gt;&#13;&#10;              &lt;Text style={{ fontFamily: 'Segoe UI', fontSize: 15, fontWeight: 700, color: '#F5F8F2', marginTop: 2 }}&gt;Rosa Dela Cruz&lt;/Text&gt;&#13;&#10;              &lt;Text style={{ fontFamily: 'Segoe UI', fontSize: 9, color: 'rgba(245,248,242,0.6)', marginTop: 2 }}&gt;2 scans this week&lt;/Text&gt;&#13;&#10;            &lt;/Box&gt;&#13;&#10;            &lt;Box style={{ background: '#A4DA22', borderRadius: 6, padding: '7px 10px' }}&gt;&#13;&#10;              &lt;Text style={{ fontFamily: 'Segoe UI', fontSize: 10, fontWeight: 700, color: '#0B1F14' }}&gt;Scan a crop&lt;/Text&gt;&#13;&#10;            &lt;/Box&gt;&#13;&#10;          &lt;/Box&gt;&#13;&#10;&#13;&#10;          &lt;Box style={{ flexDirection: 'row', gap: 10, marginTop: 10 }}&gt;&#13;&#10;            &lt;Box style={{ flex: 1, border: '1px solid rgba(11,31,20,0.1)', borderRadius: 6, padding: 10 }}&gt;&#13;&#10;              &lt;Text style={{ fontFamily: 'Segoe UI', fontSize: 9, color: 'rgba(11,31,20,0.5)' }}&gt;Weather now&lt;/Text&gt;&#13;&#10;              &lt;Text style={{ fontFamily: 'Segoe UI', fontSize: 16, fontWeight: 700, color: '#0B1F14', marginTop: 2 }}&gt;31°C&lt;/Text&gt;&#13;&#10;              &lt;Text style={{ fontFamily: 'Segoe UI', fontSize: 9, color: 'rgba(11,31,20,0.45)' }}&gt;Open-Meteo&lt;/Text&gt;&#13;&#10;            &lt;/Box&gt;&#13;&#10;            &lt;Box style={{ flex: 1, border: '1px solid rgba(11,31,20,0.1)', borderRadius: 6, padding: 10 }}&gt;&#13;&#10;              &lt;Text style={{ fontFamily: 'Segoe UI', fontSize: 9, color: 'rgba(11,31,20,0.5)' }}&gt;This week&lt;/Text&gt;&#13;&#10;              &lt;Text style={{ fontFamily: 'Segoe UI', fontSize: 12, fontWeight: 600, color: '#0B1F14', marginTop: 2, lineHeight: 1.4 }}&gt;Humid — watch lower leaves&lt;/Text&gt;&#13;&#10;            &lt;/Box&gt;&#13;&#10;          &lt;/Box&gt;&#13;&#10;&#13;&#10;          &lt;Box style={{ flexDirection: 'row', gap: 8, marginTop: 10 }}&gt;&#13;&#10;            &lt;Box style={{ flex: 1, border: '1px solid rgba(11,31,20,0.1)', borderRadius: 6, padding: 8 }}&gt;&#13;&#10;              &lt;Text style={{ fontFamily: 'Segoe UI', fontSize: 9, color: 'rgba(11,31,20,0.5)' }}&gt;Today&lt;/Text&gt;&#13;&#10;              &lt;Text style={{ fontFamily: 'Segoe UI', fontSize: 14, fontWeight: 700, color: '#0B1F14' }}&gt;1&lt;/Text&gt;&#13;&#10;            &lt;/Box&gt;&#13;&#10;            &lt;Box style={{ flex: 1, border: '1px solid rgba(11,31,20,0.1)', borderRadius: 6, padding: 8 }}&gt;&#13;&#10;              &lt;Text style={{ fontFamily: 'Segoe UI', fontSize: 9, color: 'rgba(11,31,20,0.5)' }}&gt;This week&lt;/Text&gt;&#13;&#10;              &lt;Text style={{ fontFamily: 'Segoe UI', fontSize: 14, fontWeight: 700, color: '#0B1F14' }}&gt;2&lt;/Text&gt;&#13;&#10;            &lt;/Box&gt;&#13;&#10;            &lt;Box style={{ flex: 1, border: '1px solid rgba(11,31,20,0.1)', borderRadius: 6, padding: 8 }}&gt;&#13;&#10;              &lt;Text style={{ fontFamily: 'Segoe UI', fontSize: 9, color: 'rgba(11,31,20,0.5)' }}&gt;This month&lt;/Text&gt;&#13;&#10;              &lt;Text style={{ fontFamily: 'Segoe UI', fontSize: 14, fontWeight: 700, color: '#0B1F14' }}&gt;5&lt;/Text&gt;&#13;&#10;            &lt;/Box&gt;&#13;&#10;            &lt;Box style={{ flex: 1, border: '1px solid rgba(11,31,20,0.1)', borderRadius: 6, padding: 8 }}&gt;&#13;&#10;              &lt;Text style={{ fontFamily: 'Segoe UI', fontSize: 9, color: 'rgba(11,31,20,0.5)' }}&gt;Flagged&lt;/Text&gt;&#13;&#10;              &lt;Text style={{ fontFamily: 'Segoe UI', fontSize: 14, fontWeight: 700, color: '#056526' }}&gt;3&lt;/Text&gt;&#13;&#10;            &lt;/Box&gt;&#13;&#10;          &lt;/Box&gt;&#13;&#10;&#13;&#10;          &lt;Box style={{ border: '1px solid rgba(11,31,20,0.1)', borderRadius: 6, padding: 10, marginTop: 10, flex: 1, justifyContent: 'flex-end' }}&gt;&#13;&#10;            &lt;Text style={{ fontFamily: 'Segoe UI', fontSize: 9, color: 'rgba(11,31,20,0.5)' }}&gt;Scan activity · 7d&lt;/Text&gt;&#13;&#10;            &lt;Box style={{ flexDirection: 'row', alignItems: 'flex-end', justifyContent: 'space-between', height: 140, marginTop: 8 }}&gt;&#13;&#10;              &lt;Box style={{ width: 26, height: 42, background: 'rgba(5,101,38,0.25)', borderRadius: 2 }} /&gt;&#13;&#10;              &lt;Box style={{ width: 26, height: 80, background: 'rgba(5,101,38,0.35)', borderRadius: 2 }} /&gt;&#13;&#10;              &lt;Box style={{ width: 26, height: 28, background: 'rgba(5,101,38,0.25)', borderRadius: 2 }} /&gt;&#13;&#10;              &lt;Box style={{ width: 26, height: 104, background: '#056526', borderRadius: 2 }} /&gt;&#13;&#10;              &lt;Box style={{ width: 26, height: 58, background: 'rgba(5,101,38,0.35)', borderRadius: 2 }} /&gt;&#13;&#10;              &lt;Box style={{ width: 26, height: 126, background: '#A4DA22', borderRadius: 2 }} /&gt;&#13;&#10;              &lt;Box style={{ width: 26, height: 70, background: 'rgba(5,101,38,0.35)', borderRadius: 2 }} /&gt;&#13;&#10;            &lt;/Box&gt;&#13;&#10;          &lt;/Box&gt;&#13;&#10;        &lt;/Box&gt;&#13;&#10;      &lt;/Box&gt;&#13;&#10;    &lt;/Box&gt;&#13;&#10;&#13;&#10;    &lt;Box style={{ flex: 1 }}&gt;&#13;&#10;&#13;&#10;      &lt;Box&gt;&#13;&#10;        &lt;Text style={{ fontFamily: 'Segoe UI', fontSize: 12, fontWeight: 600, color: '#056526', letterSpacing: 1.6 }}&gt;DASHBOARD&lt;/Text&gt;&#13;&#10;        &lt;Text style={{ fontFamily: 'Segoe UI', fontSize: 14, color: 'rgba(11,31,20,0.65)', lineHeight: 1.6, marginTop: 6 }}&gt;&#13;&#10;          Live weather, a weekly read on the farm, four counters and an activity chart that switches between 7 days, 30 days and 12 months.&#13;&#10;        &lt;/Text&gt;&#13;&#10;      &lt;/Box&gt;&#13;&#10;&#13;&#10;      &lt;Box style={{ marginTop: 30 }}&gt;&#13;&#10;        &lt;Text style={{ fontFamily: 'Segoe UI', fontSize: 12, fontWeight: 600, color: '#056526', letterSpacing: 1.6 }}&gt;SCAN&lt;/Text&gt;&#13;&#10;        &lt;Text style={{ fontFamily: 'Segoe UI', fontSize: 14, color: 'rgba(11,31,20,0.65)', lineHeight: 1.6, marginTop: 6 }}&gt;&#13;&#10;          Pick the crop, then take a photo or upload one. A stage log narrates each gate as it runs, so a rejection is explained rather than silent.&#13;&#10;        &lt;/Text&gt;&#13;&#10;      &lt;/Box&gt;&#13;&#10;&#13;&#10;      &lt;Box style={{ marginTop: 30 }}&gt;&#13;&#10;        &lt;Text style={{ fontFamily: 'Segoe UI', fontSize: 12, fontWeight: 600, color: '#056526', letterSpacing: 1.6 }}&gt;ANALYTICS&lt;/Text&gt;&#13;&#10;        &lt;Text style={{ fontFamily: 'Segoe UI', fontSize: 14, color: 'rgba(11,31,20,0.65)', lineHeight: 1.6, marginTop: 6 }}&gt;&#13;&#10;          Range and crop filters, healthy share, the most frequent finding, a by-crop and by-disease chart, and a paged history of every saved scan.&#13;&#10;        &lt;/Text&gt;&#13;&#10;      &lt;/Box&gt;&#13;&#10;&#13;&#10;      &lt;Box style={{ marginTop: 26 }}&gt;&#13;&#10;        &lt;Text style={{ fontFamily: 'Segoe UI', fontSize: 12, fontWeight: 600, color: '#056526', letterSpacing: 1.6 }}&gt;EVERYWHERE&lt;/Text&gt;&#13;&#10;        &lt;Text style={{ fontFamily: 'Segoe UI', fontSize: 14, color: 'rgba(11,31,20,0.65)', lineHeight: 1.6, marginTop: 6 }}&gt;&#13;&#10;          An English/Filipino toggle on every screen, home-screen install, and a banner when the connection drops — never a silent failure.&#13;&#10;        &lt;/Text&gt;&#13;&#10;      &lt;/Box&gt;&#13;&#10;&#13;&#10;      &lt;Box style={{ background: 'rgba(5,101,38,0.06)', borderRadius: 8, padding: '14px 16px', marginTop: 26 }}&gt;&#13;&#10;        &lt;Text style={{ fontFamily: 'Segoe UI', fontSize: 13, color: 'rgba(11,31,20,0.7)', lineHeight: 1.6 }}&gt;&#13;&#10;          The farmer's view is scoped to their own rows. They never see another farm's scans, and no screen offers a way to.&#13;&#10;        &lt;/Text&gt;&#13;&#10;      &lt;/Box&gt;&#13;&#10;&#13;&#10;    &lt;/Box&gt;&#13;&#10;  &lt;/Box&gt;&#13;&#10;&#13;&#10;  &lt;Box style={{ height: 60, flexDirection: 'row', justifyContent: 'space-between', alignItems: 'flex-start', paddingTop: 16, borderTop: '1px solid rgba(11,31,20,0.1)' }}&gt;&#13;&#10;    &lt;Text style={{ fontFamily: 'Segoe UI', fontSize: 13, color: 'rgba(11,31,20,0.45)' }}&gt;AgriSuri PH · Product Scope&lt;/Text&gt;&#13;&#10;    &lt;Text style={{ fontFamily: 'Segoe UI', fontSize: 13, color: 'rgba(11,31,20,0.45)' }}&gt;11 / 19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2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3267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056526"/>
                </a:solidFill>
                <a:latin typeface="Segoe UI"/>
                <a:ea typeface="Segoe UI"/>
              </a:rPr>
              <a:t>ROLE 01 · FARMER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3267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0B1F14"/>
                </a:solidFill>
                <a:latin typeface="Segoe UI"/>
                <a:ea typeface="Segoe UI"/>
              </a:rPr>
              <a:t>The farmer workspace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124950" y="495300"/>
            <a:ext cx="2381250" cy="42862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55000"/>
              </a:lnSpc>
            </a:pPr>
            <a:r>
              <a:rPr lang="en-US" sz="900">
                <a:solidFill>
                  <a:srgbClr val="0B1F14">
                    <a:alpha val="42000"/>
                  </a:srgbClr>
                </a:solidFill>
                <a:latin typeface="Segoe UI"/>
                <a:ea typeface="Segoe UI"/>
              </a:rPr>
              <a:t>Interface schematic — layout and labels from the build, not a live screenshot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85800" y="1219200"/>
            <a:ext cx="5753100" cy="44577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0B1F14">
                <a:alpha val="12000"/>
              </a:srgbClr>
            </a:solidFill>
            <a:prstDash val="solid"/>
          </a:ln>
          <a:effectLst>
            <a:outerShdw blurRad="285750" dist="95250" dir="5400000">
              <a:srgbClr val="0B1F14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85800" y="1219200"/>
            <a:ext cx="1409700" cy="4457700"/>
          </a:xfrm>
          <a:custGeom>
            <a:pathLst>
              <a:path w="148" h="468">
                <a:moveTo>
                  <a:pt x="148" y="468"/>
                </a:moveTo>
                <a:lnTo>
                  <a:pt x="12" y="468"/>
                </a:lnTo>
                <a:cubicBezTo>
                  <a:pt x="5" y="468"/>
                  <a:pt x="0" y="463"/>
                  <a:pt x="0" y="456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148" y="0"/>
                </a:lnTo>
                <a:close/>
              </a:path>
            </a:pathLst>
          </a:custGeom>
          <a:solidFill>
            <a:srgbClr val="0B1F14"/>
          </a:solidFill>
          <a:ln/>
        </p:spPr>
        <p:txBody>
          <a:bodyPr/>
          <a:p/>
        </p:txBody>
      </p:sp>
      <p:pic>
        <p:nvPicPr>
          <p:cNvPr id="48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800100" y="1371600"/>
            <a:ext cx="190500" cy="190500"/>
          </a:xfrm>
          <a:prstGeom prst="rect">
            <a:avLst/>
          </a:prstGeom>
          <a:ln/>
        </p:spPr>
      </p:pic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66800" y="14001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5F8F2"/>
                </a:solidFill>
                <a:latin typeface="Segoe UI"/>
                <a:ea typeface="Segoe UI"/>
              </a:rPr>
              <a:t>AgriSuri PH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800100" y="1771650"/>
            <a:ext cx="1181100" cy="266700"/>
          </a:xfrm>
          <a:prstGeom prst="roundRect">
            <a:avLst>
              <a:gd name="adj" fmla="val 21429"/>
            </a:avLst>
          </a:prstGeom>
          <a:solidFill>
            <a:srgbClr val="A4DA22">
              <a:alpha val="16000"/>
            </a:srgbClr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876300" y="184785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90600" y="1838325"/>
            <a:ext cx="533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A4DA22"/>
                </a:solidFill>
                <a:latin typeface="Segoe UI"/>
                <a:ea typeface="Segoe UI"/>
              </a:rPr>
              <a:t>Dashboard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76300" y="213360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F5F8F2">
              <a:alpha val="25000"/>
            </a:srgbClr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90600" y="2124075"/>
            <a:ext cx="514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Scan Crops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876300" y="2419350"/>
            <a:ext cx="38100" cy="114300"/>
          </a:xfrm>
          <a:prstGeom prst="roundRect">
            <a:avLst>
              <a:gd name="adj" fmla="val 50000"/>
            </a:avLst>
          </a:prstGeom>
          <a:solidFill>
            <a:srgbClr val="F5F8F2">
              <a:alpha val="25000"/>
            </a:srgbClr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90600" y="240982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Analytics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800100" y="5314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56526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76300" y="5362575"/>
            <a:ext cx="66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5F8F2"/>
                </a:solidFill>
                <a:latin typeface="Segoe UI"/>
                <a:ea typeface="Segoe UI"/>
              </a:rPr>
              <a:t>R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85850" y="5362575"/>
            <a:ext cx="2952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5F8F2">
                    <a:alpha val="55000"/>
                  </a:srgbClr>
                </a:solidFill>
                <a:latin typeface="Segoe UI"/>
                <a:ea typeface="Segoe UI"/>
              </a:rPr>
              <a:t>Farmer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247900" y="1371600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B1F14"/>
                </a:solidFill>
                <a:latin typeface="Segoe UI"/>
                <a:ea typeface="Segoe UI"/>
              </a:rPr>
              <a:t>Peñaranda, Nueva Ecija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2247900" y="1524000"/>
            <a:ext cx="1352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0B1F14">
                    <a:alpha val="50000"/>
                  </a:srgbClr>
                </a:solidFill>
                <a:latin typeface="Segoe UI"/>
                <a:ea typeface="Segoe UI"/>
              </a:rPr>
              <a:t>Barangay Sto. Tomas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372100" y="1428750"/>
            <a:ext cx="247650" cy="161925"/>
          </a:xfrm>
          <a:prstGeom prst="roundRect">
            <a:avLst>
              <a:gd name="adj" fmla="val 23529"/>
            </a:avLst>
          </a:prstGeom>
          <a:ln w="12700">
            <a:solidFill>
              <a:srgbClr val="0B1F14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438775" y="1457325"/>
            <a:ext cx="1143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FIL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676900" y="1428750"/>
            <a:ext cx="609600" cy="161925"/>
          </a:xfrm>
          <a:prstGeom prst="roundRect">
            <a:avLst>
              <a:gd name="adj" fmla="val 23529"/>
            </a:avLst>
          </a:prstGeom>
          <a:solidFill>
            <a:srgbClr val="056526">
              <a:alpha val="8000"/>
            </a:srgbClr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743575" y="1457325"/>
            <a:ext cx="476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056526"/>
                </a:solidFill>
                <a:latin typeface="Segoe UI"/>
                <a:ea typeface="Segoe UI"/>
              </a:rPr>
              <a:t>Sample data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2247900" y="1752600"/>
            <a:ext cx="4038600" cy="685800"/>
          </a:xfrm>
          <a:prstGeom prst="roundRect">
            <a:avLst>
              <a:gd name="adj" fmla="val 11111"/>
            </a:avLst>
          </a:prstGeom>
          <a:solidFill>
            <a:srgbClr val="056526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2381250" y="1885950"/>
            <a:ext cx="1000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5F8F2">
                    <a:alpha val="65000"/>
                  </a:srgbClr>
                </a:solidFill>
                <a:latin typeface="Segoe UI"/>
                <a:ea typeface="Segoe UI"/>
              </a:rPr>
              <a:t>Welcome back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2381250" y="20097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8F2"/>
                </a:solidFill>
                <a:latin typeface="Segoe UI"/>
                <a:ea typeface="Segoe UI"/>
              </a:rPr>
              <a:t>Rosa Dela Cruz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2381250" y="2200275"/>
            <a:ext cx="1000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2 scans this week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5448300" y="1971675"/>
            <a:ext cx="704850" cy="247650"/>
          </a:xfrm>
          <a:prstGeom prst="roundRect">
            <a:avLst>
              <a:gd name="adj" fmla="val 23077"/>
            </a:avLst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543550" y="2038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0B1F14"/>
                </a:solidFill>
                <a:latin typeface="Segoe UI"/>
                <a:ea typeface="Segoe UI"/>
              </a:rPr>
              <a:t>Scan a crop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2247900" y="2533650"/>
            <a:ext cx="1971675" cy="609600"/>
          </a:xfrm>
          <a:prstGeom prst="roundRect">
            <a:avLst>
              <a:gd name="adj" fmla="val 9375"/>
            </a:avLst>
          </a:prstGeom>
          <a:ln w="12700">
            <a:solidFill>
              <a:srgbClr val="0B1F14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343150" y="2628900"/>
            <a:ext cx="17811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0B1F14">
                    <a:alpha val="50000"/>
                  </a:srgbClr>
                </a:solidFill>
                <a:latin typeface="Segoe UI"/>
                <a:ea typeface="Segoe UI"/>
              </a:rPr>
              <a:t>Weather now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2343150" y="275272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F14"/>
                </a:solidFill>
                <a:latin typeface="Segoe UI"/>
                <a:ea typeface="Segoe UI"/>
              </a:rPr>
              <a:t>31°C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2343150" y="2943225"/>
            <a:ext cx="17811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Open-Meteo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314825" y="2533650"/>
            <a:ext cx="1971675" cy="609600"/>
          </a:xfrm>
          <a:prstGeom prst="roundRect">
            <a:avLst>
              <a:gd name="adj" fmla="val 9375"/>
            </a:avLst>
          </a:prstGeom>
          <a:ln w="12700">
            <a:solidFill>
              <a:srgbClr val="0B1F14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410075" y="2628900"/>
            <a:ext cx="17811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0B1F14">
                    <a:alpha val="50000"/>
                  </a:srgbClr>
                </a:solidFill>
                <a:latin typeface="Segoe UI"/>
                <a:ea typeface="Segoe UI"/>
              </a:rPr>
              <a:t>This week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410075" y="2752725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 b="1">
                <a:solidFill>
                  <a:srgbClr val="0B1F14"/>
                </a:solidFill>
                <a:latin typeface="Segoe UI"/>
                <a:ea typeface="Segoe UI"/>
              </a:rPr>
              <a:t>Humid — watch lower leaves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2247900" y="3238500"/>
            <a:ext cx="952500" cy="419100"/>
          </a:xfrm>
          <a:prstGeom prst="roundRect">
            <a:avLst>
              <a:gd name="adj" fmla="val 13636"/>
            </a:avLst>
          </a:prstGeom>
          <a:ln w="12700">
            <a:solidFill>
              <a:srgbClr val="0B1F14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2324100" y="3314700"/>
            <a:ext cx="8001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0B1F14">
                    <a:alpha val="50000"/>
                  </a:srgbClr>
                </a:solidFill>
                <a:latin typeface="Segoe UI"/>
                <a:ea typeface="Segoe UI"/>
              </a:rPr>
              <a:t>Today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2324100" y="34194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F14"/>
                </a:solidFill>
                <a:latin typeface="Segoe UI"/>
                <a:ea typeface="Segoe UI"/>
              </a:rPr>
              <a:t>1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276600" y="3238500"/>
            <a:ext cx="952500" cy="419100"/>
          </a:xfrm>
          <a:prstGeom prst="roundRect">
            <a:avLst>
              <a:gd name="adj" fmla="val 13636"/>
            </a:avLst>
          </a:prstGeom>
          <a:ln w="12700">
            <a:solidFill>
              <a:srgbClr val="0B1F14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352800" y="3314700"/>
            <a:ext cx="8001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0B1F14">
                    <a:alpha val="50000"/>
                  </a:srgbClr>
                </a:solidFill>
                <a:latin typeface="Segoe UI"/>
                <a:ea typeface="Segoe UI"/>
              </a:rPr>
              <a:t>This week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352800" y="34194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F14"/>
                </a:solidFill>
                <a:latin typeface="Segoe UI"/>
                <a:ea typeface="Segoe UI"/>
              </a:rPr>
              <a:t>2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4305300" y="3238500"/>
            <a:ext cx="952500" cy="419100"/>
          </a:xfrm>
          <a:prstGeom prst="roundRect">
            <a:avLst>
              <a:gd name="adj" fmla="val 13636"/>
            </a:avLst>
          </a:prstGeom>
          <a:ln w="12700">
            <a:solidFill>
              <a:srgbClr val="0B1F14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381500" y="3314700"/>
            <a:ext cx="8001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0B1F14">
                    <a:alpha val="50000"/>
                  </a:srgbClr>
                </a:solidFill>
                <a:latin typeface="Segoe UI"/>
                <a:ea typeface="Segoe UI"/>
              </a:rPr>
              <a:t>This month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381500" y="34194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F14"/>
                </a:solidFill>
                <a:latin typeface="Segoe UI"/>
                <a:ea typeface="Segoe UI"/>
              </a:rPr>
              <a:t>5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334000" y="3238500"/>
            <a:ext cx="952500" cy="419100"/>
          </a:xfrm>
          <a:prstGeom prst="roundRect">
            <a:avLst>
              <a:gd name="adj" fmla="val 13636"/>
            </a:avLst>
          </a:prstGeom>
          <a:ln w="12700">
            <a:solidFill>
              <a:srgbClr val="0B1F14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410200" y="3314700"/>
            <a:ext cx="8001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0B1F14">
                    <a:alpha val="50000"/>
                  </a:srgbClr>
                </a:solidFill>
                <a:latin typeface="Segoe UI"/>
                <a:ea typeface="Segoe UI"/>
              </a:rPr>
              <a:t>Flagged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410200" y="34194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56526"/>
                </a:solidFill>
                <a:latin typeface="Segoe UI"/>
                <a:ea typeface="Segoe UI"/>
              </a:rPr>
              <a:t>3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2247900" y="3752850"/>
            <a:ext cx="4038600" cy="1771650"/>
          </a:xfrm>
          <a:prstGeom prst="roundRect">
            <a:avLst>
              <a:gd name="adj" fmla="val 3226"/>
            </a:avLst>
          </a:prstGeom>
          <a:ln w="12700">
            <a:solidFill>
              <a:srgbClr val="0B1F14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2343150" y="3914775"/>
            <a:ext cx="38481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0B1F14">
                    <a:alpha val="50000"/>
                  </a:srgbClr>
                </a:solidFill>
                <a:latin typeface="Segoe UI"/>
                <a:ea typeface="Segoe UI"/>
              </a:rPr>
              <a:t>Scan activity · 7d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2343150" y="5029200"/>
            <a:ext cx="247650" cy="400050"/>
          </a:xfrm>
          <a:prstGeom prst="roundRect">
            <a:avLst>
              <a:gd name="adj" fmla="val 7692"/>
            </a:avLst>
          </a:prstGeom>
          <a:solidFill>
            <a:srgbClr val="056526">
              <a:alpha val="25000"/>
            </a:srgbClr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2943225" y="4667250"/>
            <a:ext cx="247650" cy="762000"/>
          </a:xfrm>
          <a:prstGeom prst="roundRect">
            <a:avLst>
              <a:gd name="adj" fmla="val 7692"/>
            </a:avLst>
          </a:prstGeom>
          <a:solidFill>
            <a:srgbClr val="056526">
              <a:alpha val="35000"/>
            </a:srgbClr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3543300" y="5162550"/>
            <a:ext cx="247650" cy="266700"/>
          </a:xfrm>
          <a:prstGeom prst="roundRect">
            <a:avLst>
              <a:gd name="adj" fmla="val 7692"/>
            </a:avLst>
          </a:prstGeom>
          <a:solidFill>
            <a:srgbClr val="056526">
              <a:alpha val="25000"/>
            </a:srgbClr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4143375" y="4438650"/>
            <a:ext cx="247650" cy="990600"/>
          </a:xfrm>
          <a:prstGeom prst="roundRect">
            <a:avLst>
              <a:gd name="adj" fmla="val 7692"/>
            </a:avLst>
          </a:prstGeom>
          <a:solidFill>
            <a:srgbClr val="056526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4743450" y="4876800"/>
            <a:ext cx="247650" cy="552450"/>
          </a:xfrm>
          <a:prstGeom prst="roundRect">
            <a:avLst>
              <a:gd name="adj" fmla="val 7692"/>
            </a:avLst>
          </a:prstGeom>
          <a:solidFill>
            <a:srgbClr val="056526">
              <a:alpha val="35000"/>
            </a:srgbClr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5343525" y="4229100"/>
            <a:ext cx="247650" cy="1200150"/>
          </a:xfrm>
          <a:prstGeom prst="roundRect">
            <a:avLst>
              <a:gd name="adj" fmla="val 7692"/>
            </a:avLst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5943600" y="4762500"/>
            <a:ext cx="247650" cy="666750"/>
          </a:xfrm>
          <a:prstGeom prst="roundRect">
            <a:avLst>
              <a:gd name="adj" fmla="val 7692"/>
            </a:avLst>
          </a:prstGeom>
          <a:solidFill>
            <a:srgbClr val="056526">
              <a:alpha val="35000"/>
            </a:srgbClr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896100" y="1219200"/>
            <a:ext cx="461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56526"/>
                </a:solidFill>
                <a:latin typeface="Segoe UI"/>
                <a:ea typeface="Segoe UI"/>
              </a:rPr>
              <a:t>DASHBOARD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896100" y="1419225"/>
            <a:ext cx="4610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5000"/>
                  </a:srgbClr>
                </a:solidFill>
                <a:latin typeface="Segoe UI"/>
                <a:ea typeface="Segoe UI"/>
              </a:rPr>
              <a:t>Live weather, a weekly read on the farm, four counters and an activity chart that switches between 7 days, 30 days and 12 months.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896100" y="2219325"/>
            <a:ext cx="461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56526"/>
                </a:solidFill>
                <a:latin typeface="Segoe UI"/>
                <a:ea typeface="Segoe UI"/>
              </a:rPr>
              <a:t>SCAN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96100" y="2419350"/>
            <a:ext cx="4610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5000"/>
                  </a:srgbClr>
                </a:solidFill>
                <a:latin typeface="Segoe UI"/>
                <a:ea typeface="Segoe UI"/>
              </a:rPr>
              <a:t>Pick the crop, then take a photo or upload one. A stage log narrates each gate as it runs, so a rejection is explained rather than silent.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896100" y="3219450"/>
            <a:ext cx="461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56526"/>
                </a:solidFill>
                <a:latin typeface="Segoe UI"/>
                <a:ea typeface="Segoe UI"/>
              </a:rPr>
              <a:t>ANALYTICS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896100" y="3419475"/>
            <a:ext cx="4610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5000"/>
                  </a:srgbClr>
                </a:solidFill>
                <a:latin typeface="Segoe UI"/>
                <a:ea typeface="Segoe UI"/>
              </a:rPr>
              <a:t>Range and crop filters, healthy share, the most frequent finding, a by-crop and by-disease chart, and a paged history of every saved scan.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896100" y="4181475"/>
            <a:ext cx="461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56526"/>
                </a:solidFill>
                <a:latin typeface="Segoe UI"/>
                <a:ea typeface="Segoe UI"/>
              </a:rPr>
              <a:t>EVERYWHERE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896100" y="4381500"/>
            <a:ext cx="4610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5000"/>
                  </a:srgbClr>
                </a:solidFill>
                <a:latin typeface="Segoe UI"/>
                <a:ea typeface="Segoe UI"/>
              </a:rPr>
              <a:t>An English/Filipino toggle on every screen, home-screen install, and a banner when the connection drops — never a silent failure.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896100" y="5143500"/>
            <a:ext cx="4610100" cy="742950"/>
          </a:xfrm>
          <a:prstGeom prst="roundRect">
            <a:avLst>
              <a:gd name="adj" fmla="val 10256"/>
            </a:avLst>
          </a:prstGeom>
          <a:solidFill>
            <a:srgbClr val="056526">
              <a:alpha val="6000"/>
            </a:srgbClr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048500" y="5276850"/>
            <a:ext cx="43053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70000"/>
                  </a:srgbClr>
                </a:solidFill>
                <a:latin typeface="Segoe UI"/>
                <a:ea typeface="Segoe UI"/>
              </a:rPr>
              <a:t>The farmer's view is scoped to their own rows. They never see another farm's scans, and no screen offers a way to.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11 / 19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13" name="" descr="&lt;Slide style={{ width: 1280, height: 720, padding: '20px 72px 0px 72px', background: '#F5F8F2', position: 'relative' }}&gt;&#13;&#10;&#13;&#10;  &lt;Box style={{ height: 108, justifyContent: 'center' }}&gt;&#13;&#10;    &lt;Text style={{ fontFamily: 'Segoe UI', fontSize: 13, fontWeight: 600, color: '#056526', letterSpacing: 2.4 }}&gt;ROLE 02 · DA OFFICER&lt;/Text&gt;&#13;&#10;    &lt;Text style={{ fontFamily: 'Segoe UI', fontSize: 34, fontWeight: 700, color: '#0B1F14', letterSpacing: -0.6, marginTop: 8 }}&gt;The staff console&lt;/Text&gt;&#13;&#10;  &lt;/Box&gt;&#13;&#10;&#13;&#10;  &lt;Box style={{ height: 532, flexDirection: 'row', gap: 56 }}&gt;&#13;&#10;&#13;&#10;    &lt;Box style={{ width: 356, justifyContent: 'space-between' }}&gt;&#13;&#10;      &lt;Box&gt;&#13;&#10;        &lt;Text style={{ fontFamily: 'Georgia', fontSize: 30, color: '#0B1F14', lineHeight: 1.42 }}&gt;&#13;&#10;          The same scans, read from above. One municipality, every barangay inside it.&#13;&#10;        &lt;/Text&gt;&#13;&#10;        &lt;Text style={{ fontFamily: 'Segoe UI', fontSize: 15, color: 'rgba(11,31,20,0.62)', lineHeight: 1.7, marginTop: 18 }}&gt;&#13;&#10;          A DA Officer does not scan. They watch the signal the farmers produce: volume, share of suspected disease, and which barangay is carrying it this month.&#13;&#10;        &lt;/Text&gt;&#13;&#10;      &lt;/Box&gt;&#13;&#10;&#13;&#10;      &lt;Box style={{ borderTop: '1px solid rgba(11,31,20,0.12)', paddingTop: 14 }}&gt;&#13;&#10;        &lt;Text style={{ fontFamily: 'Segoe UI', fontSize: 12, fontWeight: 600, color: '#056526', letterSpacing: 1.6 }}&gt;READ-ONLY BY DESIGN&lt;/Text&gt;&#13;&#10;        &lt;Text style={{ fontFamily: 'Segoe UI', fontSize: 13, color: 'rgba(11,31,20,0.62)', lineHeight: 1.6, marginTop: 6 }}&gt;&#13;&#10;          A DA Officer cannot scan, cannot change a record, and cannot see another municipality. The console is a window, not an editor.&#13;&#10;        &lt;/Text&gt;&#13;&#10;      &lt;/Box&gt;&#13;&#10;&#13;&#10;      &lt;Box style={{ background: '#0B1F14', borderRadius: 8, padding: '18px 20px' }}&gt;&#13;&#10;        &lt;Text style={{ fontFamily: 'Segoe UI', fontSize: 11, fontWeight: 600, color: '#A4DA22', letterSpacing: 1.6 }}&gt;SCOPE CHIP&lt;/Text&gt;&#13;&#10;        &lt;Text style={{ fontFamily: 'Segoe UI', fontSize: 13, color: 'rgba(245,248,242,0.75)', lineHeight: 1.6, marginTop: 8 }}&gt;&#13;&#10;          Every view is filtered to the officer's jurisdiction before the query runs. Data outside it is not fetched, not hidden.&#13;&#10;        &lt;/Text&gt;&#13;&#10;      &lt;/Box&gt;&#13;&#10;    &lt;/Box&gt;&#13;&#10;&#13;&#10;    &lt;Box style={{ flex: 1, justifyContent: 'space-between' }}&gt;&#13;&#10;&#13;&#10;      &lt;Box style={{ flexDirection: 'row', gap: 20, paddingBottom: 16, borderBottom: '1px solid rgba(11,31,20,0.12)' }}&gt;&#13;&#10;        &lt;Text style={{ fontFamily: 'Georgia', fontSize: 21, fontWeight: 'bold', color: '#056526', width: 136 }}&gt;Overview&lt;/Text&gt;&#13;&#10;        &lt;Box style={{ flex: 1 }}&gt;&#13;&#10;          &lt;Text style={{ fontFamily: 'Segoe UI', fontSize: 15, fontWeight: 600, color: '#0B1F14' }}&gt;Is pressure rising, and where?&lt;/Text&gt;&#13;&#10;          &lt;Text style={{ fontFamily: 'Segoe UI', fontSize: 14, color: 'rgba(11,31,20,0.6)', lineHeight: 1.6, marginTop: 4 }}&gt;&#13;&#10;            Four KPIs, a scan-volume trend, the disease mix, and disease pressure ranked by barangay.&#13;&#10;          &lt;/Text&gt;&#13;&#10;        &lt;/Box&gt;&#13;&#10;      &lt;/Box&gt;&#13;&#10;&#13;&#10;      &lt;Box style={{ flexDirection: 'row', gap: 20, paddingTop: 16, paddingBottom: 16, borderBottom: '1px solid rgba(11,31,20,0.12)' }}&gt;&#13;&#10;        &lt;Text style={{ fontFamily: 'Georgia', fontSize: 21, fontWeight: 'bold', color: '#056526', width: 136 }}&gt;Barangays&lt;/Text&gt;&#13;&#10;        &lt;Box style={{ flex: 1 }}&gt;&#13;&#10;          &lt;Text style={{ fontFamily: 'Segoe UI', fontSize: 15, fontWeight: 600, color: '#0B1F14' }}&gt;Which one is carrying it?&lt;/Text&gt;&#13;&#10;          &lt;Text style={{ fontFamily: 'Segoe UI', fontSize: 14, color: 'rgba(11,31,20,0.6)', lineHeight: 1.6, marginTop: 4 }}&gt;&#13;&#10;            A stacked mix per barangay, then a table of scans, suspected count, rate, farmers and a signal column.&#13;&#10;          &lt;/Text&gt;&#13;&#10;        &lt;/Box&gt;&#13;&#10;      &lt;/Box&gt;&#13;&#10;&#13;&#10;      &lt;Box style={{ flexDirection: 'row', gap: 20, paddingTop: 16, paddingBottom: 16, borderBottom: '1px solid rgba(11,31,20,0.12)' }}&gt;&#13;&#10;        &lt;Text style={{ fontFamily: 'Georgia', fontSize: 21, fontWeight: 'bold', color: '#056526', width: 136 }}&gt;Records&lt;/Text&gt;&#13;&#10;        &lt;Box style={{ flex: 1 }}&gt;&#13;&#10;          &lt;Text style={{ fontFamily: 'Segoe UI', fontSize: 15, fontWeight: 600, color: '#0B1F14' }}&gt;Which scans sit behind that number?&lt;/Text&gt;&#13;&#10;          &lt;Text style={{ fontFamily: 'Segoe UI', fontSize: 14, color: 'rgba(11,31,20,0.6)', lineHeight: 1.6, marginTop: 4 }}&gt;&#13;&#10;            Filter by farmer, crop, status or barangay. The same records open as a table or as an image gallery.&#13;&#10;          &lt;/Text&gt;&#13;&#10;        &lt;/Box&gt;&#13;&#10;      &lt;/Box&gt;&#13;&#10;&#13;&#10;      &lt;Box style={{ flexDirection: 'row', gap: 20, paddingTop: 16 }}&gt;&#13;&#10;        &lt;Text style={{ fontFamily: 'Georgia', fontSize: 21, fontWeight: 'bold', color: '#056526', width: 136 }}&gt;Farmers&lt;/Text&gt;&#13;&#10;        &lt;Box style={{ flex: 1 }}&gt;&#13;&#10;          &lt;Text style={{ fontFamily: 'Segoe UI', fontSize: 15, fontWeight: 600, color: '#0B1F14' }}&gt;Who is actually scanning?&lt;/Text&gt;&#13;&#10;          &lt;Text style={{ fontFamily: 'Segoe UI', fontSize: 14, color: 'rgba(11,31,20,0.6)', lineHeight: 1.6, marginTop: 4 }}&gt;&#13;&#10;            A roster with scan counts, last activity, and whether the farmer allowed reviewed photos to be reused.&#13;&#10;          &lt;/Text&gt;&#13;&#10;        &lt;/Box&gt;&#13;&#10;      &lt;/Box&gt;&#13;&#10;&#13;&#10;    &lt;/Box&gt;&#13;&#10;  &lt;/Box&gt;&#13;&#10;&#13;&#10;  &lt;Box style={{ height: 60, flexDirection: 'row', justifyContent: 'space-between', alignItems: 'flex-start', paddingTop: 16, borderTop: '1px solid rgba(11,31,20,0.1)' }}&gt;&#13;&#10;    &lt;Text style={{ fontFamily: 'Segoe UI', fontSize: 13, color: 'rgba(11,31,20,0.45)' }}&gt;AgriSuri PH · Product Scope&lt;/Text&gt;&#13;&#10;    &lt;Text style={{ fontFamily: 'Segoe UI', fontSize: 13, color: 'rgba(11,31,20,0.45)' }}&gt;12 / 19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2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056526"/>
                </a:solidFill>
                <a:latin typeface="Segoe UI"/>
                <a:ea typeface="Segoe UI"/>
              </a:rPr>
              <a:t>ROLE 02 · DA OFFICER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0B1F14"/>
                </a:solidFill>
                <a:latin typeface="Segoe UI"/>
                <a:ea typeface="Segoe UI"/>
              </a:rPr>
              <a:t>The staff console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85800" y="1219200"/>
            <a:ext cx="339090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2000"/>
              </a:lnSpc>
            </a:pPr>
            <a:r>
              <a:rPr lang="en-US" sz="2250">
                <a:solidFill>
                  <a:srgbClr val="0B1F14"/>
                </a:solidFill>
                <a:latin typeface="Georgia"/>
                <a:ea typeface="Georgia"/>
              </a:rPr>
              <a:t>The same scans, read from above. One municipality, every barangay inside it.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85800" y="2857500"/>
            <a:ext cx="33909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A DA Officer does not scan. They watch the signal the farmers produce: volume, share of suspected disease, and which barangay is carrying it this month.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85800" y="3848100"/>
            <a:ext cx="3390900" cy="1066800"/>
          </a:xfrm>
          <a:custGeom>
            <a:pathLst>
              <a:path w="356" h="112">
                <a:moveTo>
                  <a:pt x="0" y="0"/>
                </a:moveTo>
                <a:lnTo>
                  <a:pt x="356" y="0"/>
                </a:lnTo>
                <a:lnTo>
                  <a:pt x="35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85800" y="3990975"/>
            <a:ext cx="3390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56526"/>
                </a:solidFill>
                <a:latin typeface="Segoe UI"/>
                <a:ea typeface="Segoe UI"/>
              </a:rPr>
              <a:t>READ-ONLY BY DESIGN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85800" y="4191000"/>
            <a:ext cx="33909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A DA Officer cannot scan, cannot change a record, and cannot see another municipality. The console is a window, not an editor.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85800" y="5019675"/>
            <a:ext cx="3390900" cy="1266825"/>
          </a:xfrm>
          <a:prstGeom prst="roundRect">
            <a:avLst>
              <a:gd name="adj" fmla="val 6015"/>
            </a:avLst>
          </a:prstGeom>
          <a:solidFill>
            <a:srgbClr val="0B1F14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76300" y="5191125"/>
            <a:ext cx="3009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20">
                <a:solidFill>
                  <a:srgbClr val="A4DA22"/>
                </a:solidFill>
                <a:latin typeface="Segoe UI"/>
                <a:ea typeface="Segoe UI"/>
              </a:rPr>
              <a:t>SCOPE CHIP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76300" y="5400675"/>
            <a:ext cx="30099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5F8F2">
                    <a:alpha val="75000"/>
                  </a:srgbClr>
                </a:solidFill>
                <a:latin typeface="Segoe UI"/>
                <a:ea typeface="Segoe UI"/>
              </a:rPr>
              <a:t>Every view is filtered to the officer's jurisdiction before the query runs. Data outside it is not fetched, not hidden.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610100" y="1219200"/>
            <a:ext cx="6896100" cy="638175"/>
          </a:xfrm>
          <a:custGeom>
            <a:pathLst>
              <a:path w="724" h="67">
                <a:moveTo>
                  <a:pt x="0" y="66"/>
                </a:moveTo>
                <a:lnTo>
                  <a:pt x="724" y="66"/>
                </a:lnTo>
                <a:lnTo>
                  <a:pt x="724" y="67"/>
                </a:lnTo>
                <a:lnTo>
                  <a:pt x="0" y="67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610100" y="1219200"/>
            <a:ext cx="1295400" cy="466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56526"/>
                </a:solidFill>
                <a:latin typeface="Georgia"/>
                <a:ea typeface="Georgia"/>
              </a:rPr>
              <a:t>Overview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0" y="1219200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Is pressure rising, and where?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0" y="1428750"/>
            <a:ext cx="5410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Four KPIs, a scan-volume trend, the disease mix, and disease pressure ranked by barangay.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4610100" y="2343150"/>
            <a:ext cx="6896100" cy="1047750"/>
          </a:xfrm>
          <a:custGeom>
            <a:pathLst>
              <a:path w="724" h="110">
                <a:moveTo>
                  <a:pt x="0" y="109"/>
                </a:moveTo>
                <a:lnTo>
                  <a:pt x="724" y="109"/>
                </a:lnTo>
                <a:lnTo>
                  <a:pt x="724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610100" y="2495550"/>
            <a:ext cx="1295400" cy="723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56526"/>
                </a:solidFill>
                <a:latin typeface="Georgia"/>
                <a:ea typeface="Georgia"/>
              </a:rPr>
              <a:t>Barangays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0" y="2495550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Which one is carrying it?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096000" y="2705100"/>
            <a:ext cx="5410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A stacked mix per barangay, then a table of scans, suspected count, rate, farmers and a signal column.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4610100" y="3876675"/>
            <a:ext cx="6896100" cy="1047750"/>
          </a:xfrm>
          <a:custGeom>
            <a:pathLst>
              <a:path w="724" h="110">
                <a:moveTo>
                  <a:pt x="0" y="109"/>
                </a:moveTo>
                <a:lnTo>
                  <a:pt x="724" y="109"/>
                </a:lnTo>
                <a:lnTo>
                  <a:pt x="724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610100" y="4029075"/>
            <a:ext cx="1295400" cy="723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56526"/>
                </a:solidFill>
                <a:latin typeface="Georgia"/>
                <a:ea typeface="Georgia"/>
              </a:rPr>
              <a:t>Records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0" y="4029075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Which scans sit behind that number?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0" y="4238625"/>
            <a:ext cx="5410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Filter by farmer, crop, status or barangay. The same records open as a table or as an image gallery.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610100" y="5562600"/>
            <a:ext cx="1295400" cy="723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56526"/>
                </a:solidFill>
                <a:latin typeface="Georgia"/>
                <a:ea typeface="Georgia"/>
              </a:rPr>
              <a:t>Farmers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0" y="5562600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Who is actually scanning?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0" y="5772150"/>
            <a:ext cx="5410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A roster with scan counts, last activity, and whether the farmer allowed reviewed photos to be reused.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12 / 19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F14"/>
          </a:solidFill>
          <a:ln/>
        </p:spPr>
        <p:txBody>
          <a:bodyPr/>
          <a:p>
            <a:pPr/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A4DA22"/>
                </a:solidFill>
                <a:latin typeface="Segoe UI"/>
                <a:ea typeface="Segoe UI"/>
              </a:rPr>
              <a:t>ACCESS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F5F8F2"/>
                </a:solidFill>
                <a:latin typeface="Segoe UI"/>
                <a:ea typeface="Segoe UI"/>
              </a:rPr>
              <a:t>Who can see what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85800" y="1219200"/>
            <a:ext cx="7620000" cy="438150"/>
          </a:xfrm>
          <a:custGeom>
            <a:pathLst>
              <a:path w="800" h="46">
                <a:moveTo>
                  <a:pt x="8" y="0"/>
                </a:moveTo>
                <a:lnTo>
                  <a:pt x="792" y="0"/>
                </a:lnTo>
                <a:cubicBezTo>
                  <a:pt x="796" y="0"/>
                  <a:pt x="800" y="4"/>
                  <a:pt x="800" y="8"/>
                </a:cubicBezTo>
                <a:lnTo>
                  <a:pt x="800" y="46"/>
                </a:lnTo>
                <a:lnTo>
                  <a:pt x="800" y="46"/>
                </a:lnTo>
                <a:lnTo>
                  <a:pt x="0" y="46"/>
                </a:lnTo>
                <a:lnTo>
                  <a:pt x="0" y="46"/>
                </a:ln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056526"/>
          </a:solidFill>
          <a:ln/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85800" y="1371600"/>
            <a:ext cx="3619500" cy="142875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en-US" sz="900" b="1" spc="90">
                <a:solidFill>
                  <a:srgbClr val="F5F8F2"/>
                </a:solidFill>
                <a:latin typeface="Segoe UI"/>
                <a:ea typeface="Segoe UI"/>
              </a:rPr>
              <a:t>CAPABILITY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305300" y="1371600"/>
            <a:ext cx="13335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 spc="90">
                <a:solidFill>
                  <a:srgbClr val="F5F8F2"/>
                </a:solidFill>
                <a:latin typeface="Segoe UI"/>
                <a:ea typeface="Segoe UI"/>
              </a:rPr>
              <a:t>FARMER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638800" y="1371600"/>
            <a:ext cx="13335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 spc="90">
                <a:solidFill>
                  <a:srgbClr val="F5F8F2"/>
                </a:solidFill>
                <a:latin typeface="Segoe UI"/>
                <a:ea typeface="Segoe UI"/>
              </a:rPr>
              <a:t>DA OFFICER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972300" y="1371600"/>
            <a:ext cx="13335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 spc="90">
                <a:solidFill>
                  <a:srgbClr val="F5F8F2"/>
                </a:solidFill>
                <a:latin typeface="Segoe UI"/>
                <a:ea typeface="Segoe UI"/>
              </a:rPr>
              <a:t>ADMIN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85800" y="1657350"/>
            <a:ext cx="7620000" cy="571500"/>
          </a:xfrm>
          <a:custGeom>
            <a:pathLst>
              <a:path w="800" h="60">
                <a:moveTo>
                  <a:pt x="0" y="59"/>
                </a:moveTo>
                <a:lnTo>
                  <a:pt x="800" y="59"/>
                </a:lnTo>
                <a:lnTo>
                  <a:pt x="800" y="60"/>
                </a:lnTo>
                <a:lnTo>
                  <a:pt x="0" y="60"/>
                </a:lnTo>
                <a:close/>
              </a:path>
            </a:pathLst>
          </a:custGeom>
          <a:solidFill>
            <a:srgbClr val="F5F8F2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85800" y="1857375"/>
            <a:ext cx="3619500" cy="1714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8F2"/>
                </a:solidFill>
                <a:latin typeface="Segoe UI"/>
                <a:ea typeface="Segoe UI"/>
              </a:rPr>
              <a:t>Scan a crop and receive guidance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305300" y="1857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A4DA22"/>
                </a:solidFill>
                <a:latin typeface="Segoe UI"/>
                <a:ea typeface="Segoe UI"/>
              </a:rPr>
              <a:t>Yes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638800" y="1857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972300" y="1857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85800" y="2228850"/>
            <a:ext cx="7620000" cy="561975"/>
          </a:xfrm>
          <a:prstGeom prst="rect">
            <a:avLst/>
          </a:prstGeom>
          <a:solidFill>
            <a:srgbClr val="F5F8F2">
              <a:alpha val="3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85800" y="2228850"/>
            <a:ext cx="7620000" cy="571500"/>
          </a:xfrm>
          <a:custGeom>
            <a:pathLst>
              <a:path w="800" h="60">
                <a:moveTo>
                  <a:pt x="0" y="59"/>
                </a:moveTo>
                <a:lnTo>
                  <a:pt x="800" y="59"/>
                </a:lnTo>
                <a:lnTo>
                  <a:pt x="800" y="60"/>
                </a:lnTo>
                <a:lnTo>
                  <a:pt x="0" y="60"/>
                </a:lnTo>
                <a:close/>
              </a:path>
            </a:pathLst>
          </a:custGeom>
          <a:solidFill>
            <a:srgbClr val="F5F8F2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85800" y="2428875"/>
            <a:ext cx="3619500" cy="1714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8F2"/>
                </a:solidFill>
                <a:latin typeface="Segoe UI"/>
                <a:ea typeface="Segoe UI"/>
              </a:rPr>
              <a:t>Read own scan history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305300" y="2428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A4DA22"/>
                </a:solidFill>
                <a:latin typeface="Segoe UI"/>
                <a:ea typeface="Segoe UI"/>
              </a:rPr>
              <a:t>Yes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638800" y="2428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972300" y="2428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85800" y="2800350"/>
            <a:ext cx="7620000" cy="571500"/>
          </a:xfrm>
          <a:custGeom>
            <a:pathLst>
              <a:path w="800" h="60">
                <a:moveTo>
                  <a:pt x="0" y="59"/>
                </a:moveTo>
                <a:lnTo>
                  <a:pt x="800" y="59"/>
                </a:lnTo>
                <a:lnTo>
                  <a:pt x="800" y="60"/>
                </a:lnTo>
                <a:lnTo>
                  <a:pt x="0" y="60"/>
                </a:lnTo>
                <a:close/>
              </a:path>
            </a:pathLst>
          </a:custGeom>
          <a:solidFill>
            <a:srgbClr val="F5F8F2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3000375"/>
            <a:ext cx="3619500" cy="1714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8F2"/>
                </a:solidFill>
                <a:latin typeface="Segoe UI"/>
                <a:ea typeface="Segoe UI"/>
              </a:rPr>
              <a:t>Read scans in one municipality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305300" y="3000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638800" y="3000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A4DA22"/>
                </a:solidFill>
                <a:latin typeface="Segoe UI"/>
                <a:ea typeface="Segoe UI"/>
              </a:rPr>
              <a:t>Yes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972300" y="3000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A4DA22"/>
                </a:solidFill>
                <a:latin typeface="Segoe UI"/>
                <a:ea typeface="Segoe UI"/>
              </a:rPr>
              <a:t>Yes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85800" y="3371850"/>
            <a:ext cx="7620000" cy="561975"/>
          </a:xfrm>
          <a:prstGeom prst="rect">
            <a:avLst/>
          </a:prstGeom>
          <a:solidFill>
            <a:srgbClr val="F5F8F2">
              <a:alpha val="3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85800" y="3371850"/>
            <a:ext cx="7620000" cy="571500"/>
          </a:xfrm>
          <a:custGeom>
            <a:pathLst>
              <a:path w="800" h="60">
                <a:moveTo>
                  <a:pt x="0" y="59"/>
                </a:moveTo>
                <a:lnTo>
                  <a:pt x="800" y="59"/>
                </a:lnTo>
                <a:lnTo>
                  <a:pt x="800" y="60"/>
                </a:lnTo>
                <a:lnTo>
                  <a:pt x="0" y="60"/>
                </a:lnTo>
                <a:close/>
              </a:path>
            </a:pathLst>
          </a:custGeom>
          <a:solidFill>
            <a:srgbClr val="F5F8F2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85800" y="3571875"/>
            <a:ext cx="3619500" cy="1714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8F2"/>
                </a:solidFill>
                <a:latin typeface="Segoe UI"/>
                <a:ea typeface="Segoe UI"/>
              </a:rPr>
              <a:t>Barangay-level disease analytics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305300" y="3571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638800" y="3571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A4DA22"/>
                </a:solidFill>
                <a:latin typeface="Segoe UI"/>
                <a:ea typeface="Segoe UI"/>
              </a:rPr>
              <a:t>Yes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972300" y="3571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A4DA22"/>
                </a:solidFill>
                <a:latin typeface="Segoe UI"/>
                <a:ea typeface="Segoe UI"/>
              </a:rPr>
              <a:t>Yes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85800" y="3943350"/>
            <a:ext cx="7620000" cy="571500"/>
          </a:xfrm>
          <a:custGeom>
            <a:pathLst>
              <a:path w="800" h="60">
                <a:moveTo>
                  <a:pt x="0" y="59"/>
                </a:moveTo>
                <a:lnTo>
                  <a:pt x="800" y="59"/>
                </a:lnTo>
                <a:lnTo>
                  <a:pt x="800" y="60"/>
                </a:lnTo>
                <a:lnTo>
                  <a:pt x="0" y="60"/>
                </a:lnTo>
                <a:close/>
              </a:path>
            </a:pathLst>
          </a:custGeom>
          <a:solidFill>
            <a:srgbClr val="F5F8F2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85800" y="4143375"/>
            <a:ext cx="3619500" cy="1714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8F2"/>
                </a:solidFill>
                <a:latin typeface="Segoe UI"/>
                <a:ea typeface="Segoe UI"/>
              </a:rPr>
              <a:t>Farmer roster and photo consent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305300" y="4143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638800" y="4143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A4DA22"/>
                </a:solidFill>
                <a:latin typeface="Segoe UI"/>
                <a:ea typeface="Segoe UI"/>
              </a:rPr>
              <a:t>Yes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972300" y="4143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A4DA22"/>
                </a:solidFill>
                <a:latin typeface="Segoe UI"/>
                <a:ea typeface="Segoe UI"/>
              </a:rPr>
              <a:t>Yes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85800" y="4514850"/>
            <a:ext cx="7620000" cy="561975"/>
          </a:xfrm>
          <a:prstGeom prst="rect">
            <a:avLst/>
          </a:prstGeom>
          <a:solidFill>
            <a:srgbClr val="F5F8F2">
              <a:alpha val="3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85800" y="4514850"/>
            <a:ext cx="7620000" cy="571500"/>
          </a:xfrm>
          <a:custGeom>
            <a:pathLst>
              <a:path w="800" h="60">
                <a:moveTo>
                  <a:pt x="0" y="59"/>
                </a:moveTo>
                <a:lnTo>
                  <a:pt x="800" y="59"/>
                </a:lnTo>
                <a:lnTo>
                  <a:pt x="800" y="60"/>
                </a:lnTo>
                <a:lnTo>
                  <a:pt x="0" y="60"/>
                </a:lnTo>
                <a:close/>
              </a:path>
            </a:pathLst>
          </a:custGeom>
          <a:solidFill>
            <a:srgbClr val="F5F8F2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85800" y="4714875"/>
            <a:ext cx="3619500" cy="1714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8F2"/>
                </a:solidFill>
                <a:latin typeface="Segoe UI"/>
                <a:ea typeface="Segoe UI"/>
              </a:rPr>
              <a:t>Change roles and jurisdiction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305300" y="4714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638800" y="4714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972300" y="4714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A4DA22"/>
                </a:solidFill>
                <a:latin typeface="Segoe UI"/>
                <a:ea typeface="Segoe UI"/>
              </a:rPr>
              <a:t>Yes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85800" y="5086350"/>
            <a:ext cx="7620000" cy="571500"/>
          </a:xfrm>
          <a:custGeom>
            <a:pathLst>
              <a:path w="800" h="60">
                <a:moveTo>
                  <a:pt x="0" y="59"/>
                </a:moveTo>
                <a:lnTo>
                  <a:pt x="800" y="59"/>
                </a:lnTo>
                <a:lnTo>
                  <a:pt x="800" y="60"/>
                </a:lnTo>
                <a:lnTo>
                  <a:pt x="0" y="60"/>
                </a:lnTo>
                <a:close/>
              </a:path>
            </a:pathLst>
          </a:custGeom>
          <a:solidFill>
            <a:srgbClr val="F5F8F2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85800" y="5286375"/>
            <a:ext cx="3619500" cy="1714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8F2"/>
                </a:solidFill>
                <a:latin typeface="Segoe UI"/>
                <a:ea typeface="Segoe UI"/>
              </a:rPr>
              <a:t>Issue one-time staff invites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305300" y="5286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638800" y="5286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972300" y="52863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A4DA22"/>
                </a:solidFill>
                <a:latin typeface="Segoe UI"/>
                <a:ea typeface="Segoe UI"/>
              </a:rPr>
              <a:t>Yes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85800" y="5657850"/>
            <a:ext cx="7620000" cy="561975"/>
          </a:xfrm>
          <a:prstGeom prst="rect">
            <a:avLst/>
          </a:prstGeom>
          <a:solidFill>
            <a:srgbClr val="F5F8F2">
              <a:alpha val="3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85800" y="5657850"/>
            <a:ext cx="7620000" cy="571500"/>
          </a:xfrm>
          <a:custGeom>
            <a:pathLst>
              <a:path w="800" h="60">
                <a:moveTo>
                  <a:pt x="0" y="59"/>
                </a:moveTo>
                <a:lnTo>
                  <a:pt x="800" y="59"/>
                </a:lnTo>
                <a:lnTo>
                  <a:pt x="800" y="60"/>
                </a:lnTo>
                <a:lnTo>
                  <a:pt x="0" y="60"/>
                </a:lnTo>
                <a:close/>
              </a:path>
            </a:pathLst>
          </a:custGeom>
          <a:solidFill>
            <a:srgbClr val="F5F8F2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85800" y="5857875"/>
            <a:ext cx="3619500" cy="1714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8F2"/>
                </a:solidFill>
                <a:latin typeface="Segoe UI"/>
                <a:ea typeface="Segoe UI"/>
              </a:rPr>
              <a:t>Read the audit log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305300" y="5857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638800" y="5857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F5F8F2">
                    <a:alpha val="28000"/>
                  </a:srgbClr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972300" y="5857875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A4DA22"/>
                </a:solidFill>
                <a:latin typeface="Segoe UI"/>
                <a:ea typeface="Segoe UI"/>
              </a:rPr>
              <a:t>Yes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724900" y="1219200"/>
            <a:ext cx="2781300" cy="1257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950" b="1">
                <a:solidFill>
                  <a:srgbClr val="F5F8F2"/>
                </a:solidFill>
                <a:latin typeface="Georgia"/>
                <a:ea typeface="Georgia"/>
              </a:rPr>
              <a:t>Permissions are rows,</a:t>
            </a:r>
            <a:endParaRPr/>
          </a:p>
          <a:p>
            <a:pPr>
              <a:lnSpc>
                <a:spcPct val="140000"/>
              </a:lnSpc>
            </a:pPr>
            <a:r>
              <a:rPr lang="en-US" sz="1950" b="1">
                <a:solidFill>
                  <a:srgbClr val="F5F8F2"/>
                </a:solidFill>
                <a:latin typeface="Georgia"/>
                <a:ea typeface="Georgia"/>
              </a:rPr>
              <a:t>not menus.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724900" y="2628900"/>
            <a:ext cx="27813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F5F8F2">
                    <a:alpha val="65000"/>
                  </a:srgbClr>
                </a:solidFill>
                <a:latin typeface="Segoe UI"/>
                <a:ea typeface="Segoe UI"/>
              </a:rPr>
              <a:t>Role, jurisdiction and active status are not columns a client can write. A forged session lands on a page it cannot read from.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724900" y="3562350"/>
            <a:ext cx="27813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F5F8F2">
                    <a:alpha val="65000"/>
                  </a:srgbClr>
                </a:solidFill>
                <a:latin typeface="Segoe UI"/>
                <a:ea typeface="Segoe UI"/>
              </a:rPr>
              <a:t>A DA Officer's scope is applied twice: in the row-level policy, and in the storage policy that serves the photo itself.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8724900" y="4657725"/>
            <a:ext cx="2781300" cy="1638300"/>
          </a:xfrm>
          <a:custGeom>
            <a:pathLst>
              <a:path w="292" h="172">
                <a:moveTo>
                  <a:pt x="0" y="0"/>
                </a:moveTo>
                <a:lnTo>
                  <a:pt x="292" y="0"/>
                </a:lnTo>
                <a:lnTo>
                  <a:pt x="292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724900" y="4819650"/>
            <a:ext cx="2781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A4DA22"/>
                </a:solidFill>
                <a:latin typeface="Segoe UI"/>
                <a:ea typeface="Segoe UI"/>
              </a:rPr>
              <a:t>ACCOUNT CEILINGS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724900" y="505777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Farmers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1315700" y="50577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F8F2"/>
                </a:solidFill>
                <a:latin typeface="Georgia"/>
                <a:ea typeface="Georgia"/>
              </a:rPr>
              <a:t>10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724900" y="5305425"/>
            <a:ext cx="61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DA Officers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1410950" y="53054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F8F2"/>
                </a:solidFill>
                <a:latin typeface="Georgia"/>
                <a:ea typeface="Georgia"/>
              </a:rPr>
              <a:t>5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724900" y="5553075"/>
            <a:ext cx="41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Admins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401425" y="5553075"/>
            <a:ext cx="104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F8F2"/>
                </a:solidFill>
                <a:latin typeface="Georgia"/>
                <a:ea typeface="Georgia"/>
              </a:rPr>
              <a:t>6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724900" y="5838825"/>
            <a:ext cx="27813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00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Enforced under a database lock, so two simultaneous signups cannot both take the last slot.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13 / 19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11" name="" descr="&lt;Slide style={{ width: 1280, height: 720, position: 'relative', overflow: 'hidden', background: '#0B1F14', padding: 0 }}&gt;&#13;&#10;&#13;&#10;  &lt;Box style={{ position: 'absolute', right: 0, top: 0, width: 500, height: 720, background: '#056526', alignItems: 'center', justifyContent: 'center' }}&gt;&#13;&#10;    &lt;Text style={{ fontFamily: 'Segoe UI', fontSize: 13, fontWeight: 600, color: 'rgba(245,248,242,0.6)', letterSpacing: 3 }}&gt;CHAPTER&lt;/Text&gt;&#13;&#10;    &lt;Text style={{ fontFamily: 'Georgia', fontSize: 230, fontWeight: 'bold', color: '#A4DA22', lineHeight: 1, letterSpacing: 2, marginTop: 4 }}&gt;04&lt;/Text&gt;&#13;&#10;    &lt;Text style={{ fontFamily: 'Segoe UI', fontSize: 13, fontWeight: 600, color: 'rgba(245,248,242,0.6)', letterSpacing: 3, marginTop: 10 }}&gt;OF 04&lt;/Text&gt;&#13;&#10;  &lt;/Box&gt;&#13;&#10;&#13;&#10;  &lt;Box style={{ position: 'absolute', left: 72, top: 0, width: 640, height: 720, justifyContent: 'center' }}&gt;&#13;&#10;&#13;&#10;    &lt;Text style={{ fontFamily: 'Segoe UI', fontSize: 13, fontWeight: 600, color: '#A4DA22', letterSpacing: 2.6 }}&gt;SCOPE &amp;amp; LIMITS&lt;/Text&gt;&#13;&#10;    &lt;Text style={{ fontFamily: 'Georgia', fontSize: 62, fontWeight: 'bold', color: '#F5F8F2', lineHeight: 1.1, letterSpacing: -0.8, marginTop: 16 }}&gt;Where the product&lt;br /&gt;stops on purpose&lt;/Text&gt;&#13;&#10;    &lt;Box style={{ width: 88, height: 3, background: '#A4DA22', marginTop: 26, marginBottom: 24 }} /&gt;&#13;&#10;    &lt;Text style={{ fontFamily: 'Segoe UI', fontSize: 19, color: 'rgba(245,248,242,0.72)', lineHeight: 1.65, width: 540 }}&gt;&#13;&#10;      What was built, what was refused, what is guarded — and the one measurement that says whether any of it works.&#13;&#10;    &lt;/Text&gt;&#13;&#10;&#13;&#10;    &lt;Box style={{ flexDirection: 'row', gap: 18, marginTop: 40 }}&gt;&#13;&#10;      &lt;Box style={{ width: 3, background: '#A4DA22' }} /&gt;&#13;&#10;      &lt;Box style={{ flex: 1 }}&gt;&#13;&#10;        &lt;Text style={{ fontFamily: 'Georgia', fontSize: 21, fontStyle: 'italic', color: '#F5F8F2', lineHeight: 1.55, width: 460 }}&gt;&#13;&#10;          A tool that admits what it cannot see is more useful in a field than one that answers everything.&#13;&#10;        &lt;/Text&gt;&#13;&#10;        &lt;Text style={{ fontFamily: 'Segoe UI', fontSize: 13, color: 'rgba(245,248,242,0.55)', marginTop: 12 }}&gt;The argument of the last chapter&lt;/Text&gt;&#13;&#10;      &lt;/Box&gt;&#13;&#10;    &lt;/Box&gt;&#13;&#10;&#13;&#10;    &lt;Box style={{ flexDirection: 'row', alignItems: 'center', gap: 12, marginTop: 40, borderTop: '1px solid rgba(245,248,242,0.22)', paddingTop: 16 }}&gt;&#13;&#10;      &lt;Text style={{ fontFamily: 'Segoe UI', fontSize: 12, color: 'rgba(245,248,242,0.55)', letterSpacing: 2 }}&gt;UP NEXT&lt;/Text&gt;&#13;&#10;      &lt;Text style={{ fontFamily: 'Segoe UI', fontSize: 14, color: '#F5F8F2' }}&gt;Scope, trust, evidence, roadmap · pages 15–19&lt;/Text&gt;&#13;&#10;    &lt;/Box&gt;&#13;&#10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F14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solidFill>
            <a:srgbClr val="056526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429750" y="1895475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CHAPTER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315325" y="2085975"/>
            <a:ext cx="3000375" cy="2628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0" b="1" spc="150">
                <a:solidFill>
                  <a:srgbClr val="A4DA22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9572625" y="481012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5F8F2">
                    <a:alpha val="60000"/>
                  </a:srgbClr>
                </a:solidFill>
                <a:latin typeface="Segoe UI"/>
                <a:ea typeface="Segoe UI"/>
              </a:rPr>
              <a:t>OF 04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85800" y="647700"/>
            <a:ext cx="609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95">
                <a:solidFill>
                  <a:srgbClr val="A4DA22"/>
                </a:solidFill>
                <a:latin typeface="Segoe UI"/>
                <a:ea typeface="Segoe UI"/>
              </a:rPr>
              <a:t>SCOPE &amp; LIMITS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85800" y="952500"/>
            <a:ext cx="6096000" cy="15621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650" b="1" spc="-60">
                <a:solidFill>
                  <a:srgbClr val="F5F8F2"/>
                </a:solidFill>
                <a:latin typeface="Georgia"/>
                <a:ea typeface="Georgia"/>
              </a:rPr>
              <a:t>Where the product</a:t>
            </a:r>
            <a:endParaRPr/>
          </a:p>
          <a:p>
            <a:pPr>
              <a:lnSpc>
                <a:spcPct val="110000"/>
              </a:lnSpc>
            </a:pPr>
            <a:r>
              <a:rPr lang="en-US" sz="4650" b="1" spc="-60">
                <a:solidFill>
                  <a:srgbClr val="F5F8F2"/>
                </a:solidFill>
                <a:latin typeface="Georgia"/>
                <a:ea typeface="Georgia"/>
              </a:rPr>
              <a:t>stops on purpose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85800" y="2762250"/>
            <a:ext cx="838200" cy="28575"/>
          </a:xfrm>
          <a:prstGeom prst="rect">
            <a:avLst/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5800" y="3019425"/>
            <a:ext cx="5143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425">
                <a:solidFill>
                  <a:srgbClr val="F5F8F2">
                    <a:alpha val="72000"/>
                  </a:srgbClr>
                </a:solidFill>
                <a:latin typeface="Segoe UI"/>
                <a:ea typeface="Segoe UI"/>
              </a:rPr>
              <a:t>What was built, what was refused, what is guarded — and the one measurement that says whether any of it works.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85800" y="4124325"/>
            <a:ext cx="28575" cy="1390650"/>
          </a:xfrm>
          <a:prstGeom prst="rect">
            <a:avLst/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85825" y="4124325"/>
            <a:ext cx="438150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75" i="1">
                <a:solidFill>
                  <a:srgbClr val="F5F8F2"/>
                </a:solidFill>
                <a:latin typeface="Georgia"/>
                <a:ea typeface="Georgia"/>
              </a:rPr>
              <a:t>A tool that admits what it cannot see is more useful in a field than one that answers everything.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85825" y="5362575"/>
            <a:ext cx="589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55000"/>
                  </a:srgbClr>
                </a:solidFill>
                <a:latin typeface="Segoe UI"/>
                <a:ea typeface="Segoe UI"/>
              </a:rPr>
              <a:t>The argument of the last chapter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85800" y="5895975"/>
            <a:ext cx="6096000" cy="333375"/>
          </a:xfrm>
          <a:custGeom>
            <a:pathLst>
              <a:path w="640" h="35">
                <a:moveTo>
                  <a:pt x="0" y="0"/>
                </a:moveTo>
                <a:lnTo>
                  <a:pt x="640" y="0"/>
                </a:lnTo>
                <a:lnTo>
                  <a:pt x="640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22000"/>
            </a:srgbClr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85800" y="6067425"/>
            <a:ext cx="581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5F8F2">
                    <a:alpha val="55000"/>
                  </a:srgbClr>
                </a:solidFill>
                <a:latin typeface="Segoe UI"/>
                <a:ea typeface="Segoe UI"/>
              </a:rPr>
              <a:t>UP NEXT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381125" y="6057900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8F2"/>
                </a:solidFill>
                <a:latin typeface="Segoe UI"/>
                <a:ea typeface="Segoe UI"/>
              </a:rPr>
              <a:t>Scope, trust, evidence, roadmap · pages 15–19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27" name="" descr="&lt;Slide style={{ width: 1280, height: 720, padding: '20px 72px 0px 72px', background: '#F5F8F2', position: 'relative' }}&gt;&#13;&#10;&#13;&#10;  &lt;Box style={{ height: 108, justifyContent: 'center' }}&gt;&#13;&#10;    &lt;Text style={{ fontFamily: 'Segoe UI', fontSize: 13, fontWeight: 600, color: '#056526', letterSpacing: 2.4 }}&gt;SCOPE&lt;/Text&gt;&#13;&#10;    &lt;Text style={{ fontFamily: 'Segoe UI', fontSize: 34, fontWeight: 700, color: '#0B1F14', letterSpacing: -0.6, marginTop: 8 }}&gt;Built, and deliberately not built&lt;/Text&gt;&#13;&#10;  &lt;/Box&gt;&#13;&#10;&#13;&#10;  &lt;Box style={{ height: 532 }}&gt;&#13;&#10;&#13;&#10;    &lt;Box style={{ background: '#FFFFFF', border: '1px solid rgba(11,31,20,0.1)', borderRadius: 10, padding: '20px 24px', height: 236 }}&gt;&#13;&#10;      &lt;Box style={{ flexDirection: 'row', justifyContent: 'space-between', alignItems: 'baseline', borderBottom: '1px solid rgba(11,31,20,0.1)', paddingBottom: 12 }}&gt;&#13;&#10;        &lt;Text style={{ fontFamily: 'Segoe UI', fontSize: 13, fontWeight: 700, color: '#056526', letterSpacing: 1.8 }}&gt;IN SCOPE — RUNNING TODAY&lt;/Text&gt;&#13;&#10;        &lt;Text style={{ fontFamily: 'Segoe UI', fontSize: 12, color: 'rgba(11,31,20,0.45)' }}&gt;six capabilities&lt;/Text&gt;&#13;&#10;      &lt;/Box&gt;&#13;&#10;      &lt;Box style={{ flexDirection: 'row', marginTop: 16 }}&gt;&#13;&#10;        &lt;Box style={{ flex: 1, paddingRight: 20 }}&gt;&#13;&#10;          &lt;Text style={{ fontFamily: 'Segoe UI', fontSize: 15, fontWeight: 600, color: '#0B1F14' }}&gt;Two crops, 14 classes&lt;/Text&gt;&#13;&#10;          &lt;Text style={{ fontFamily: 'Segoe UI', fontSize: 13, color: 'rgba(11,31,20,0.6)', lineHeight: 1.6, marginTop: 4 }}&gt;Tomato and palay, each with a healthy baseline.&lt;/Text&gt;&#13;&#10;        &lt;/Box&gt;&#13;&#10;        &lt;Box style={{ flex: 1, paddingRight: 20, borderLeft: '1px solid rgba(11,31,20,0.08)', paddingLeft: 20 }}&gt;&#13;&#10;          &lt;Text style={{ fontFamily: 'Segoe UI', fontSize: 15, fontWeight: 600, color: '#0B1F14' }}&gt;Two inference paths&lt;/Text&gt;&#13;&#10;          &lt;Text style={{ fontFamily: 'Segoe UI', fontSize: 13, color: 'rgba(11,31,20,0.6)', lineHeight: 1.6, marginTop: 4 }}&gt;On-device model and a server-side gateway.&lt;/Text&gt;&#13;&#10;        &lt;/Box&gt;&#13;&#10;        &lt;Box style={{ flex: 1, borderLeft: '1px solid rgba(11,31,20,0.08)', paddingLeft: 20 }}&gt;&#13;&#10;          &lt;Text style={{ fontFamily: 'Segoe UI', fontSize: 15, fontWeight: 600, color: '#0B1F14' }}&gt;Bilingual guidance&lt;/Text&gt;&#13;&#10;          &lt;Text style={{ fontFamily: 'Segoe UI', fontSize: 13, color: 'rgba(11,31,20,0.6)', lineHeight: 1.6, marginTop: 4 }}&gt;English and Filipino, same interface.&lt;/Text&gt;&#13;&#10;        &lt;/Box&gt;&#13;&#10;      &lt;/Box&gt;&#13;&#10;      &lt;Box style={{ flexDirection: 'row', marginTop: 16, paddingTop: 16, borderTop: '1px solid rgba(11,31,20,0.08)' }}&gt;&#13;&#10;        &lt;Box style={{ flex: 1, paddingRight: 20 }}&gt;&#13;&#10;          &lt;Text style={{ fontFamily: 'Segoe UI', fontSize: 15, fontWeight: 600, color: '#0B1F14' }}&gt;Farmer history and analytics&lt;/Text&gt;&#13;&#10;          &lt;Text style={{ fontFamily: 'Segoe UI', fontSize: 13, color: 'rgba(11,31,20,0.6)', lineHeight: 1.6, marginTop: 4 }}&gt;Filters, charts, paged records.&lt;/Text&gt;&#13;&#10;        &lt;/Box&gt;&#13;&#10;        &lt;Box style={{ flex: 1, paddingRight: 20, borderLeft: '1px solid rgba(11,31,20,0.08)', paddingLeft: 20 }}&gt;&#13;&#10;          &lt;Text style={{ fontFamily: 'Segoe UI', fontSize: 15, fontWeight: 600, color: '#0B1F14' }}&gt;Municipal analytics&lt;/Text&gt;&#13;&#10;          &lt;Text style={{ fontFamily: 'Segoe UI', fontSize: 13, color: 'rgba(11,31,20,0.6)', lineHeight: 1.6, marginTop: 4 }}&gt;Barangay breakdown for a DA Officer.&lt;/Text&gt;&#13;&#10;        &lt;/Box&gt;&#13;&#10;        &lt;Box style={{ flex: 1, borderLeft: '1px solid rgba(11,31,20,0.08)', paddingLeft: 20 }}&gt;&#13;&#10;          &lt;Text style={{ fontFamily: 'Segoe UI', fontSize: 15, fontWeight: 600, color: '#0B1F14' }}&gt;Administration&lt;/Text&gt;&#13;&#10;          &lt;Text style={{ fontFamily: 'Segoe UI', fontSize: 13, color: 'rgba(11,31,20,0.6)', lineHeight: 1.6, marginTop: 4 }}&gt;Invites, role caps, audit trail.&lt;/Text&gt;&#13;&#10;        &lt;/Box&gt;&#13;&#10;      &lt;/Box&gt;&#13;&#10;    &lt;/Box&gt;&#13;&#10;&#13;&#10;    &lt;Box style={{ background: '#0B1F14', borderRadius: 10, padding: '20px 24px', height: 214, marginTop: 24 }}&gt;&#13;&#10;      &lt;Box style={{ flexDirection: 'row', justifyContent: 'space-between', alignItems: 'baseline', borderBottom: '1px solid rgba(245,248,242,0.18)', paddingBottom: 12 }}&gt;&#13;&#10;        &lt;Text style={{ fontFamily: 'Segoe UI', fontSize: 13, fontWeight: 700, color: '#A4DA22', letterSpacing: 1.8 }}&gt;OUT OF SCOPE — REFUSED ON PURPOSE&lt;/Text&gt;&#13;&#10;        &lt;Text style={{ fontFamily: 'Segoe UI', fontSize: 12, color: 'rgba(245,248,242,0.45)' }}&gt;four decisions&lt;/Text&gt;&#13;&#10;      &lt;/Box&gt;&#13;&#10;      &lt;Box style={{ flexDirection: 'row', marginTop: 16 }}&gt;&#13;&#10;        &lt;Box style={{ flex: 1, paddingRight: 18 }}&gt;&#13;&#10;          &lt;Text style={{ fontFamily: 'Segoe UI', fontSize: 15, fontWeight: 600, color: '#F5F8F2' }}&gt;Other crops&lt;/Text&gt;&#13;&#10;          &lt;Text style={{ fontFamily: 'Segoe UI', fontSize: 13, color: 'rgba(245,248,242,0.62)', lineHeight: 1.6, marginTop: 4 }}&gt;Rejected, not guessed. A label on a crop the model never saw is worse than no label.&lt;/Text&gt;&#13;&#10;        &lt;/Box&gt;&#13;&#10;        &lt;Box style={{ flex: 1, paddingRight: 18, borderLeft: '1px solid rgba(245,248,242,0.14)', paddingLeft: 18 }}&gt;&#13;&#10;          &lt;Text style={{ fontFamily: 'Segoe UI', fontSize: 15, fontWeight: 600, color: '#F5F8F2' }}&gt;Outbreak confirmation&lt;/Text&gt;&#13;&#10;          &lt;Text style={{ fontFamily: 'Segoe UI', fontSize: 13, color: 'rgba(245,248,242,0.62)', lineHeight: 1.6, marginTop: 4 }}&gt;The app reports suspected findings. Declaring an outbreak stays a human decision.&lt;/Text&gt;&#13;&#10;        &lt;/Box&gt;&#13;&#10;        &lt;Box style={{ flex: 1, paddingRight: 18, borderLeft: '1px solid rgba(245,248,242,0.14)', paddingLeft: 18 }}&gt;&#13;&#10;          &lt;Text style={{ fontFamily: 'Segoe UI', fontSize: 15, fontWeight: 600, color: '#F5F8F2' }}&gt;Yield forecasting&lt;/Text&gt;&#13;&#10;          &lt;Text style={{ fontFamily: 'Segoe UI', fontSize: 13, color: 'rgba(245,248,242,0.62)', lineHeight: 1.6, marginTop: 4 }}&gt;Not enough seasons of local data. Any number would be invented.&lt;/Text&gt;&#13;&#10;        &lt;/Box&gt;&#13;&#10;        &lt;Box style={{ flex: 1, borderLeft: '1px solid rgba(245,248,242,0.14)', paddingLeft: 18 }}&gt;&#13;&#10;          &lt;Text style={{ fontFamily: 'Segoe UI', fontSize: 15, fontWeight: 600, color: '#F5F8F2' }}&gt;Training on photos by default&lt;/Text&gt;&#13;&#10;          &lt;Text style={{ fontFamily: 'Segoe UI', fontSize: 13, color: 'rgba(245,248,242,0.62)', lineHeight: 1.6, marginTop: 4 }}&gt;Off unless the farmer turns it on, per account.&lt;/Text&gt;&#13;&#10;        &lt;/Box&gt;&#13;&#10;      &lt;/Box&gt;&#13;&#10;    &lt;/Box&gt;&#13;&#10;&#13;&#10;    &lt;Box style={{ flexDirection: 'row', alignItems: 'center', gap: 14, borderTop: '1px solid rgba(11,31,20,0.12)', paddingTop: 14 }}&gt;&#13;&#10;      &lt;Text style={{ fontFamily: 'Segoe UI', fontSize: 12, fontWeight: 600, color: '#056526', letterSpacing: 1.6 }}&gt;READ THIS AS&lt;/Text&gt;&#13;&#10;      &lt;Text style={{ fontFamily: 'Segoe UI', fontSize: 13, color: 'rgba(11,31,20,0.6)' }}&gt;The upper list is what a user can do today. Nothing in the lower list has a placeholder anywhere in the interface.&lt;/Text&gt;&#13;&#10;    &lt;/Box&gt;&#13;&#10;&#13;&#10;  &lt;/Box&gt;&#13;&#10;&#13;&#10;  &lt;Box style={{ height: 60, flexDirection: 'row', justifyContent: 'space-between', alignItems: 'flex-start', paddingTop: 16, borderTop: '1px solid rgba(11,31,20,0.1)' }}&gt;&#13;&#10;    &lt;Text style={{ fontFamily: 'Segoe UI', fontSize: 13, color: 'rgba(11,31,20,0.45)' }}&gt;AgriSuri PH · Product Scope&lt;/Text&gt;&#13;&#10;    &lt;Text style={{ fontFamily: 'Segoe UI', fontSize: 13, color: 'rgba(11,31,20,0.45)' }}&gt;15 / 19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2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056526"/>
                </a:solidFill>
                <a:latin typeface="Segoe UI"/>
                <a:ea typeface="Segoe UI"/>
              </a:rPr>
              <a:t>SCOPE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0B1F14"/>
                </a:solidFill>
                <a:latin typeface="Segoe UI"/>
                <a:ea typeface="Segoe UI"/>
              </a:rPr>
              <a:t>Built, and deliberately not built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85800" y="1219200"/>
            <a:ext cx="10820400" cy="22479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0B1F14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914400" y="1409700"/>
            <a:ext cx="10363200" cy="285750"/>
          </a:xfrm>
          <a:custGeom>
            <a:pathLst>
              <a:path w="1088" h="30">
                <a:moveTo>
                  <a:pt x="0" y="29"/>
                </a:moveTo>
                <a:lnTo>
                  <a:pt x="1088" y="29"/>
                </a:lnTo>
                <a:lnTo>
                  <a:pt x="1088" y="30"/>
                </a:lnTo>
                <a:lnTo>
                  <a:pt x="0" y="30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914400" y="14097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35">
                <a:solidFill>
                  <a:srgbClr val="056526"/>
                </a:solidFill>
                <a:latin typeface="Segoe UI"/>
                <a:ea typeface="Segoe UI"/>
              </a:rPr>
              <a:t>IN SCOPE — RUNNING TODAY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0553700" y="1409700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six capabilities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14400" y="1838325"/>
            <a:ext cx="3267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Two crops, 14 classes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14400" y="2047875"/>
            <a:ext cx="326707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Tomato and palay, each with a healthy baseline.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4371975" y="1838325"/>
            <a:ext cx="3457575" cy="447675"/>
          </a:xfrm>
          <a:custGeom>
            <a:pathLst>
              <a:path w="363" h="47">
                <a:moveTo>
                  <a:pt x="0" y="0"/>
                </a:moveTo>
                <a:lnTo>
                  <a:pt x="1" y="0"/>
                </a:lnTo>
                <a:lnTo>
                  <a:pt x="1" y="47"/>
                </a:lnTo>
                <a:lnTo>
                  <a:pt x="0" y="47"/>
                </a:lnTo>
                <a:close/>
              </a:path>
            </a:pathLst>
          </a:custGeom>
          <a:solidFill>
            <a:srgbClr val="0B1F14">
              <a:alpha val="8000"/>
            </a:srgbClr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572000" y="1838325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Two inference paths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572000" y="2047875"/>
            <a:ext cx="30575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On-device model and a server-side gateway.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7820025" y="1838325"/>
            <a:ext cx="3467100" cy="447675"/>
          </a:xfrm>
          <a:custGeom>
            <a:pathLst>
              <a:path w="364" h="47">
                <a:moveTo>
                  <a:pt x="0" y="0"/>
                </a:moveTo>
                <a:lnTo>
                  <a:pt x="1" y="0"/>
                </a:lnTo>
                <a:lnTo>
                  <a:pt x="1" y="47"/>
                </a:lnTo>
                <a:lnTo>
                  <a:pt x="0" y="47"/>
                </a:lnTo>
                <a:close/>
              </a:path>
            </a:pathLst>
          </a:custGeom>
          <a:solidFill>
            <a:srgbClr val="0B1F14">
              <a:alpha val="8000"/>
            </a:srgbClr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020050" y="1838325"/>
            <a:ext cx="3257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Bilingual guidance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020050" y="2047875"/>
            <a:ext cx="32575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English and Filipino, same interface.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914400" y="2438400"/>
            <a:ext cx="10363200" cy="619125"/>
          </a:xfrm>
          <a:custGeom>
            <a:pathLst>
              <a:path w="1088" h="65">
                <a:moveTo>
                  <a:pt x="0" y="0"/>
                </a:moveTo>
                <a:lnTo>
                  <a:pt x="1088" y="0"/>
                </a:lnTo>
                <a:lnTo>
                  <a:pt x="1088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8000"/>
            </a:srgbClr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14400" y="2600325"/>
            <a:ext cx="3267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Farmer history and analytics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914400" y="2809875"/>
            <a:ext cx="326707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Filters, charts, paged records.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4371975" y="2600325"/>
            <a:ext cx="3457575" cy="447675"/>
          </a:xfrm>
          <a:custGeom>
            <a:pathLst>
              <a:path w="363" h="47">
                <a:moveTo>
                  <a:pt x="0" y="0"/>
                </a:moveTo>
                <a:lnTo>
                  <a:pt x="1" y="0"/>
                </a:lnTo>
                <a:lnTo>
                  <a:pt x="1" y="47"/>
                </a:lnTo>
                <a:lnTo>
                  <a:pt x="0" y="47"/>
                </a:lnTo>
                <a:close/>
              </a:path>
            </a:pathLst>
          </a:custGeom>
          <a:solidFill>
            <a:srgbClr val="0B1F14">
              <a:alpha val="8000"/>
            </a:srgbClr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572000" y="2600325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Municipal analytics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572000" y="2809875"/>
            <a:ext cx="30575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Barangay breakdown for a DA Officer.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7820025" y="2600325"/>
            <a:ext cx="3467100" cy="447675"/>
          </a:xfrm>
          <a:custGeom>
            <a:pathLst>
              <a:path w="364" h="47">
                <a:moveTo>
                  <a:pt x="0" y="0"/>
                </a:moveTo>
                <a:lnTo>
                  <a:pt x="1" y="0"/>
                </a:lnTo>
                <a:lnTo>
                  <a:pt x="1" y="47"/>
                </a:lnTo>
                <a:lnTo>
                  <a:pt x="0" y="47"/>
                </a:lnTo>
                <a:close/>
              </a:path>
            </a:pathLst>
          </a:custGeom>
          <a:solidFill>
            <a:srgbClr val="0B1F14">
              <a:alpha val="8000"/>
            </a:srgbClr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020050" y="2600325"/>
            <a:ext cx="3257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Segoe UI"/>
                <a:ea typeface="Segoe UI"/>
              </a:rPr>
              <a:t>Administration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020050" y="2809875"/>
            <a:ext cx="32575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Invites, role caps, audit trail.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85800" y="3695700"/>
            <a:ext cx="10820400" cy="2038350"/>
          </a:xfrm>
          <a:prstGeom prst="roundRect">
            <a:avLst>
              <a:gd name="adj" fmla="val 4673"/>
            </a:avLst>
          </a:prstGeom>
          <a:solidFill>
            <a:srgbClr val="0B1F14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914400" y="3886200"/>
            <a:ext cx="10363200" cy="285750"/>
          </a:xfrm>
          <a:custGeom>
            <a:pathLst>
              <a:path w="1088" h="30">
                <a:moveTo>
                  <a:pt x="0" y="29"/>
                </a:moveTo>
                <a:lnTo>
                  <a:pt x="1088" y="29"/>
                </a:lnTo>
                <a:lnTo>
                  <a:pt x="1088" y="30"/>
                </a:lnTo>
                <a:lnTo>
                  <a:pt x="0" y="30"/>
                </a:lnTo>
                <a:close/>
              </a:path>
            </a:pathLst>
          </a:custGeom>
          <a:solidFill>
            <a:srgbClr val="F5F8F2">
              <a:alpha val="18000"/>
            </a:srgbClr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914400" y="3886200"/>
            <a:ext cx="2962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35">
                <a:solidFill>
                  <a:srgbClr val="A4DA22"/>
                </a:solidFill>
                <a:latin typeface="Segoe UI"/>
                <a:ea typeface="Segoe UI"/>
              </a:rPr>
              <a:t>OUT OF SCOPE — REFUSED ON PURPOSE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572750" y="3886200"/>
            <a:ext cx="704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four decisions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14400" y="4314825"/>
            <a:ext cx="241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8F2"/>
                </a:solidFill>
                <a:latin typeface="Segoe UI"/>
                <a:ea typeface="Segoe UI"/>
              </a:rPr>
              <a:t>Other crops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14400" y="4524375"/>
            <a:ext cx="24193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5F8F2">
                    <a:alpha val="62000"/>
                  </a:srgbClr>
                </a:solidFill>
                <a:latin typeface="Segoe UI"/>
                <a:ea typeface="Segoe UI"/>
              </a:rPr>
              <a:t>Rejected, not guessed. A label on a crop the model never saw is worse than no label.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3505200" y="4314825"/>
            <a:ext cx="2600325" cy="923925"/>
          </a:xfrm>
          <a:custGeom>
            <a:pathLst>
              <a:path w="273" h="97">
                <a:moveTo>
                  <a:pt x="0" y="0"/>
                </a:moveTo>
                <a:lnTo>
                  <a:pt x="1" y="0"/>
                </a:lnTo>
                <a:lnTo>
                  <a:pt x="1" y="97"/>
                </a:lnTo>
                <a:lnTo>
                  <a:pt x="0" y="97"/>
                </a:lnTo>
                <a:close/>
              </a:path>
            </a:pathLst>
          </a:custGeom>
          <a:solidFill>
            <a:srgbClr val="F5F8F2">
              <a:alpha val="14000"/>
            </a:srgbClr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686175" y="4314825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8F2"/>
                </a:solidFill>
                <a:latin typeface="Segoe UI"/>
                <a:ea typeface="Segoe UI"/>
              </a:rPr>
              <a:t>Outbreak confirmation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3686175" y="4524375"/>
            <a:ext cx="2238375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5F8F2">
                    <a:alpha val="62000"/>
                  </a:srgbClr>
                </a:solidFill>
                <a:latin typeface="Segoe UI"/>
                <a:ea typeface="Segoe UI"/>
              </a:rPr>
              <a:t>The app reports suspected findings. Declaring an outbreak stays a human decision.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096000" y="4314825"/>
            <a:ext cx="2600325" cy="923925"/>
          </a:xfrm>
          <a:custGeom>
            <a:pathLst>
              <a:path w="273" h="97">
                <a:moveTo>
                  <a:pt x="0" y="0"/>
                </a:moveTo>
                <a:lnTo>
                  <a:pt x="1" y="0"/>
                </a:lnTo>
                <a:lnTo>
                  <a:pt x="1" y="97"/>
                </a:lnTo>
                <a:lnTo>
                  <a:pt x="0" y="97"/>
                </a:lnTo>
                <a:close/>
              </a:path>
            </a:pathLst>
          </a:custGeom>
          <a:solidFill>
            <a:srgbClr val="F5F8F2">
              <a:alpha val="14000"/>
            </a:srgbClr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276975" y="4314825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8F2"/>
                </a:solidFill>
                <a:latin typeface="Segoe UI"/>
                <a:ea typeface="Segoe UI"/>
              </a:rPr>
              <a:t>Yield forecasting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276975" y="4524375"/>
            <a:ext cx="22383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5F8F2">
                    <a:alpha val="62000"/>
                  </a:srgbClr>
                </a:solidFill>
                <a:latin typeface="Segoe UI"/>
                <a:ea typeface="Segoe UI"/>
              </a:rPr>
              <a:t>Not enough seasons of local data. Any number would be invented.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8686800" y="4314825"/>
            <a:ext cx="2600325" cy="923925"/>
          </a:xfrm>
          <a:custGeom>
            <a:pathLst>
              <a:path w="273" h="97">
                <a:moveTo>
                  <a:pt x="0" y="0"/>
                </a:moveTo>
                <a:lnTo>
                  <a:pt x="1" y="0"/>
                </a:lnTo>
                <a:lnTo>
                  <a:pt x="1" y="97"/>
                </a:lnTo>
                <a:lnTo>
                  <a:pt x="0" y="97"/>
                </a:lnTo>
                <a:close/>
              </a:path>
            </a:pathLst>
          </a:custGeom>
          <a:solidFill>
            <a:srgbClr val="F5F8F2">
              <a:alpha val="14000"/>
            </a:srgbClr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867775" y="4314825"/>
            <a:ext cx="2409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5F8F2"/>
                </a:solidFill>
                <a:latin typeface="Segoe UI"/>
                <a:ea typeface="Segoe UI"/>
              </a:rPr>
              <a:t>Training on photos by default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867775" y="4524375"/>
            <a:ext cx="240982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5F8F2">
                    <a:alpha val="62000"/>
                  </a:srgbClr>
                </a:solidFill>
                <a:latin typeface="Segoe UI"/>
                <a:ea typeface="Segoe UI"/>
              </a:rPr>
              <a:t>Off unless the farmer turns it on, per account.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85800" y="5734050"/>
            <a:ext cx="10820400" cy="304800"/>
          </a:xfrm>
          <a:custGeom>
            <a:pathLst>
              <a:path w="1136" h="32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85800" y="5886450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56526"/>
                </a:solidFill>
                <a:latin typeface="Segoe UI"/>
                <a:ea typeface="Segoe UI"/>
              </a:rPr>
              <a:t>READ THIS AS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771650" y="5876925"/>
            <a:ext cx="6086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The upper list is what a user can do today. Nothing in the lower list has a placeholder anywhere in the interface.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15 / 19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056526"/>
                </a:solidFill>
                <a:latin typeface="Segoe UI"/>
                <a:ea typeface="Segoe UI"/>
              </a:rPr>
              <a:t>GOVERNANCE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0B1F14"/>
                </a:solidFill>
                <a:latin typeface="Segoe UI"/>
                <a:ea typeface="Segoe UI"/>
              </a:rPr>
              <a:t>Trust is a feature, not a claim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85800" y="1219200"/>
            <a:ext cx="6572250" cy="933450"/>
          </a:xfrm>
          <a:custGeom>
            <a:pathLst>
              <a:path w="690" h="98">
                <a:moveTo>
                  <a:pt x="0" y="97"/>
                </a:moveTo>
                <a:lnTo>
                  <a:pt x="690" y="97"/>
                </a:lnTo>
                <a:lnTo>
                  <a:pt x="690" y="98"/>
                </a:lnTo>
                <a:lnTo>
                  <a:pt x="0" y="98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85800" y="1219200"/>
            <a:ext cx="40005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56526"/>
                </a:solidFill>
                <a:latin typeface="Georgia"/>
                <a:ea typeface="Georgia"/>
              </a:rPr>
              <a:t>1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257300" y="1219200"/>
            <a:ext cx="600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1F14"/>
                </a:solidFill>
                <a:latin typeface="Segoe UI"/>
                <a:ea typeface="Segoe UI"/>
              </a:rPr>
              <a:t>Identity comes from a code, not a form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257300" y="1466850"/>
            <a:ext cx="6000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Staff accounts are created only by a single-use invite, stored as a SHA-256 hash with an expiry. The role is resolved inside the database, so a client cannot ask for one.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85800" y="2514600"/>
            <a:ext cx="6572250" cy="1066800"/>
          </a:xfrm>
          <a:custGeom>
            <a:pathLst>
              <a:path w="690" h="112">
                <a:moveTo>
                  <a:pt x="0" y="111"/>
                </a:moveTo>
                <a:lnTo>
                  <a:pt x="690" y="111"/>
                </a:lnTo>
                <a:lnTo>
                  <a:pt x="690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5800" y="2647950"/>
            <a:ext cx="40005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56526"/>
                </a:solidFill>
                <a:latin typeface="Georgia"/>
                <a:ea typeface="Georgia"/>
              </a:rPr>
              <a:t>2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257300" y="2647950"/>
            <a:ext cx="600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1F14"/>
                </a:solidFill>
                <a:latin typeface="Segoe UI"/>
                <a:ea typeface="Segoe UI"/>
              </a:rPr>
              <a:t>Every table is scoped at the row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257300" y="2895600"/>
            <a:ext cx="6000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Row-level security is on for every table. A farmer reads their own rows; an officer reads their jurisdiction. Analytics are SQL functions, so aggregates are filtered before they are counted.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85800" y="3943350"/>
            <a:ext cx="6572250" cy="1066800"/>
          </a:xfrm>
          <a:custGeom>
            <a:pathLst>
              <a:path w="690" h="112">
                <a:moveTo>
                  <a:pt x="0" y="111"/>
                </a:moveTo>
                <a:lnTo>
                  <a:pt x="690" y="111"/>
                </a:lnTo>
                <a:lnTo>
                  <a:pt x="690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85800" y="4076700"/>
            <a:ext cx="40005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56526"/>
                </a:solidFill>
                <a:latin typeface="Georgia"/>
                <a:ea typeface="Georgia"/>
              </a:rPr>
              <a:t>3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257300" y="4076700"/>
            <a:ext cx="600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1F14"/>
                </a:solidFill>
                <a:latin typeface="Segoe UI"/>
                <a:ea typeface="Segoe UI"/>
              </a:rPr>
              <a:t>Collect less than you could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257300" y="4324350"/>
            <a:ext cx="6000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Coordinates are rounded to three decimals server-side, roughly 110 metres. Photos sit in a private bucket and are never used for training unless the farmer opts in.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85800" y="5505450"/>
            <a:ext cx="40005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56526"/>
                </a:solidFill>
                <a:latin typeface="Georgia"/>
                <a:ea typeface="Georgia"/>
              </a:rPr>
              <a:t>4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257300" y="5505450"/>
            <a:ext cx="600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1F14"/>
                </a:solidFill>
                <a:latin typeface="Segoe UI"/>
                <a:ea typeface="Segoe UI"/>
              </a:rPr>
              <a:t>The record is written by the server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257300" y="5753100"/>
            <a:ext cx="6000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Account, role and scan events land in an audit table that clients cannot insert into. A rejected scan is logged as a data-quality event and kept out of every aggregate.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7753350" y="1219200"/>
            <a:ext cx="3752850" cy="1819275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12700">
            <a:solidFill>
              <a:srgbClr val="0B1F14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962900" y="1428750"/>
            <a:ext cx="3333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56526"/>
                </a:solidFill>
                <a:latin typeface="Segoe UI"/>
                <a:ea typeface="Segoe UI"/>
              </a:rPr>
              <a:t>THE CONSENT SWITCH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962900" y="1666875"/>
            <a:ext cx="33337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0B1F14"/>
                </a:solidFill>
                <a:latin typeface="Segoe UI"/>
                <a:ea typeface="Segoe UI"/>
              </a:rPr>
              <a:t>"Allow reviewed photo use" is off by default, per account, and reversible. Nothing is used to train a model unless a farmer turns it on.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7962900" y="2657475"/>
            <a:ext cx="323850" cy="171450"/>
          </a:xfrm>
          <a:prstGeom prst="roundRect">
            <a:avLst>
              <a:gd name="adj" fmla="val 50000"/>
            </a:avLst>
          </a:prstGeom>
          <a:solidFill>
            <a:srgbClr val="0B1F14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7981950" y="26765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382000" y="267652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F14">
                    <a:alpha val="50000"/>
                  </a:srgbClr>
                </a:solidFill>
                <a:latin typeface="Segoe UI"/>
                <a:ea typeface="Segoe UI"/>
              </a:rPr>
              <a:t>Default state: off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753350" y="3905250"/>
            <a:ext cx="3752850" cy="847725"/>
          </a:xfrm>
          <a:custGeom>
            <a:pathLst>
              <a:path w="394" h="89">
                <a:moveTo>
                  <a:pt x="0" y="0"/>
                </a:moveTo>
                <a:lnTo>
                  <a:pt x="394" y="0"/>
                </a:lnTo>
                <a:lnTo>
                  <a:pt x="394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753350" y="4048125"/>
            <a:ext cx="3752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56526"/>
                </a:solidFill>
                <a:latin typeface="Segoe UI"/>
                <a:ea typeface="Segoe UI"/>
              </a:rPr>
              <a:t>WHAT IS NOT STORED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7753350" y="4248150"/>
            <a:ext cx="37528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Retakes, rejections and uncertain results. A scan the model was not sure about never becomes a row in the farmer's record.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7753350" y="5610225"/>
            <a:ext cx="3752850" cy="685800"/>
          </a:xfrm>
          <a:custGeom>
            <a:pathLst>
              <a:path w="394" h="72">
                <a:moveTo>
                  <a:pt x="0" y="0"/>
                </a:moveTo>
                <a:lnTo>
                  <a:pt x="394" y="0"/>
                </a:lnTo>
                <a:lnTo>
                  <a:pt x="394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753350" y="5753100"/>
            <a:ext cx="37528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 i="1">
                <a:solidFill>
                  <a:srgbClr val="0B1F14">
                    <a:alpha val="70000"/>
                  </a:srgbClr>
                </a:solidFill>
                <a:latin typeface="Georgia"/>
                <a:ea typeface="Georgia"/>
              </a:rPr>
              <a:t>Privacy here is enforced by policy, not by a paragraph in the terms.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16 / 19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306" name="" descr="&lt;Slide style={{ width: 1280, height: 720, padding: '20px 72px 0px 72px', background: '#0B1F14', position: 'relative' }}&gt;&#13;&#10;&#13;&#10;  &lt;Box style={{ height: 108, justifyContent: 'center' }}&gt;&#13;&#10;    &lt;Text style={{ fontFamily: 'Segoe UI', fontSize: 13, fontWeight: 600, color: '#A4DA22', letterSpacing: 2.4 }}&gt;EVIDENCE&lt;/Text&gt;&#13;&#10;    &lt;Text style={{ fontFamily: 'Segoe UI', fontSize: 34, fontWeight: 700, color: '#F5F8F2', letterSpacing: -0.6, marginTop: 8 }}&gt;The mode changes the accuracy&lt;/Text&gt;&#13;&#10;  &lt;/Box&gt;&#13;&#10;&#13;&#10;  &lt;Box style={{ height: 532, flexDirection: 'row', gap: 44 }}&gt;&#13;&#10;&#13;&#10;    &lt;Box style={{ width: 640 }}&gt;&#13;&#10;      &lt;Box style={{ flexDirection: 'row', alignItems: 'flex-end', justifyContent: 'center', gap: 84, height: 366, borderBottom: '1px solid rgba(245,248,242,0.22)' }}&gt;&#13;&#10;&#13;&#10;        &lt;Box style={{ alignItems: 'center' }}&gt;&#13;&#10;          &lt;Text style={{ fontFamily: 'Georgia', fontSize: 34, fontWeight: 'bold', color: '#A4DA22', lineHeight: 1, marginBottom: 10 }}&gt;75%&lt;/Text&gt;&#13;&#10;          &lt;Box style={{ width: 132, height: 236, background: 'linear-gradient(180deg, #A4DA22 0%, #056526 100%)', borderTopLeftRadius: 6, borderTopRightRadius: 6 }} /&gt;&#13;&#10;        &lt;/Box&gt;&#13;&#10;&#13;&#10;        &lt;Box style={{ alignItems: 'center' }}&gt;&#13;&#10;          &lt;Text style={{ fontFamily: 'Georgia', fontSize: 34, fontWeight: 'bold', color: '#A4DA22', lineHeight: 1, marginBottom: 10 }}&gt;98%&lt;/Text&gt;&#13;&#10;          &lt;Box style={{ width: 132, height: 308, background: 'linear-gradient(180deg, #A4DA22 0%, #056526 100%)', borderTopLeftRadius: 6, borderTopRightRadius: 6 }} /&gt;&#13;&#10;        &lt;/Box&gt;&#13;&#10;&#13;&#10;      &lt;/Box&gt;&#13;&#10;&#13;&#10;      &lt;Box style={{ flexDirection: 'row', justifyContent: 'center', gap: 84, marginTop: 12 }}&gt;&#13;&#10;        &lt;Box style={{ width: 132, alignItems: 'center' }}&gt;&#13;&#10;          &lt;Text style={{ fontFamily: 'Segoe UI', fontSize: 14, fontWeight: 600, color: '#F5F8F2' }}&gt;Offline&lt;/Text&gt;&#13;&#10;          &lt;Text style={{ fontFamily: 'Segoe UI', fontSize: 12, color: 'rgba(245,248,242,0.5)' }}&gt;on-device model&lt;/Text&gt;&#13;&#10;        &lt;/Box&gt;&#13;&#10;        &lt;Box style={{ width: 132, alignItems: 'center' }}&gt;&#13;&#10;          &lt;Text style={{ fontFamily: 'Segoe UI', fontSize: 14, fontWeight: 600, color: '#F5F8F2' }}&gt;Online&lt;/Text&gt;&#13;&#10;          &lt;Text style={{ fontFamily: 'Segoe UI', fontSize: 12, color: 'rgba(245,248,242,0.5)' }}&gt;gateway model&lt;/Text&gt;&#13;&#10;        &lt;/Box&gt;&#13;&#10;      &lt;/Box&gt;&#13;&#10;&#13;&#10;      &lt;Text style={{ fontFamily: 'Segoe UI', fontSize: 12, color: 'rgba(245,248,242,0.45)', marginTop: 18 }}&gt;&#13;&#10;        Classification accuracy on the same 14-class label set, from the project's validation run. Percent of test images classified correctly.&#13;&#10;      &lt;/Text&gt;&#13;&#10;    &lt;/Box&gt;&#13;&#10;&#13;&#10;    &lt;Box style={{ flex: 1, justifyContent: 'space-between' }}&gt;&#13;&#10;&#13;&#10;      &lt;Box&gt;&#13;&#10;        &lt;Text style={{ fontFamily: 'Georgia', fontSize: 104, fontWeight: 'bold', color: '#A4DA22', lineHeight: 1, letterSpacing: -3 }}&gt;23&lt;/Text&gt;&#13;&#10;        &lt;Text style={{ fontFamily: 'Segoe UI', fontSize: 17, fontWeight: 600, color: '#F5F8F2', marginTop: 6 }}&gt;percentage points between the two paths&lt;/Text&gt;&#13;&#10;        &lt;Text style={{ fontFamily: 'Segoe UI', fontSize: 14, color: 'rgba(245,248,242,0.62)', lineHeight: 1.7, marginTop: 12 }}&gt;&#13;&#10;          The on-device model is smaller and cheaper to run. The gateway calls a hosted model. That difference is the whole trade-off in one number.&#13;&#10;        &lt;/Text&gt;&#13;&#10;      &lt;/Box&gt;&#13;&#10;&#13;&#10;      &lt;Box style={{ borderTop: '1px solid rgba(245,248,242,0.18)', paddingTop: 14 }}&gt;&#13;&#10;        &lt;Text style={{ fontFamily: 'Segoe UI', fontSize: 12, fontWeight: 600, color: '#A4DA22', letterSpacing: 1.6 }}&gt;WHAT THIS ESTABLISHES&lt;/Text&gt;&#13;&#10;        &lt;Text style={{ fontFamily: 'Segoe UI', fontSize: 13, color: 'rgba(245,248,242,0.62)', lineHeight: 1.65, marginTop: 6 }}&gt;&#13;&#10;          Both paths can carry the same 14 classes end to end, and the online path is the more accurate of the two.&#13;&#10;        &lt;/Text&gt;&#13;&#10;      &lt;/Box&gt;&#13;&#10;&#13;&#10;      &lt;Box style={{ borderTop: '1px solid rgba(245,248,242,0.18)', paddingTop: 14 }}&gt;&#13;&#10;        &lt;Text style={{ fontFamily: 'Segoe UI', fontSize: 12, fontWeight: 600, color: 'rgba(245,248,242,0.5)', letterSpacing: 1.6 }}&gt;WHAT IT DOES NOT&lt;/Text&gt;&#13;&#10;        &lt;Text style={{ fontFamily: 'Segoe UI', fontSize: 13, color: 'rgba(245,248,242,0.62)', lineHeight: 1.65, marginTop: 6 }}&gt;&#13;&#10;          Field accuracy across a whole season, or that either figure survives a farmer's phone in poor light. No error bars, no significance claim — the sample does not support one.&#13;&#10;        &lt;/Text&gt;&#13;&#10;      &lt;/Box&gt;&#13;&#10;&#13;&#10;    &lt;/Box&gt;&#13;&#10;  &lt;/Box&gt;&#13;&#10;&#13;&#10;  &lt;Box style={{ height: 60, flexDirection: 'row', justifyContent: 'space-between', alignItems: 'flex-start', paddingTop: 16, borderTop: '1px solid rgba(245,248,242,0.16)' }}&gt;&#13;&#10;    &lt;Text style={{ fontFamily: 'Segoe UI', fontSize: 13, color: 'rgba(245,248,242,0.45)' }}&gt;AgriSuri PH · Product Scope&lt;/Text&gt;&#13;&#10;    &lt;Text style={{ fontFamily: 'Segoe UI', fontSize: 13, color: 'rgba(245,248,242,0.45)' }}&gt;17 / 19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F14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A4DA22"/>
                </a:solidFill>
                <a:latin typeface="Segoe UI"/>
                <a:ea typeface="Segoe UI"/>
              </a:rPr>
              <a:t>EVIDENCE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F5F8F2"/>
                </a:solidFill>
                <a:latin typeface="Segoe UI"/>
                <a:ea typeface="Segoe UI"/>
              </a:rPr>
              <a:t>The mode changes the accuracy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85800" y="1219200"/>
            <a:ext cx="6096000" cy="3486150"/>
          </a:xfrm>
          <a:custGeom>
            <a:pathLst>
              <a:path w="640" h="366">
                <a:moveTo>
                  <a:pt x="0" y="365"/>
                </a:moveTo>
                <a:lnTo>
                  <a:pt x="640" y="365"/>
                </a:lnTo>
                <a:lnTo>
                  <a:pt x="640" y="366"/>
                </a:lnTo>
                <a:lnTo>
                  <a:pt x="0" y="366"/>
                </a:lnTo>
                <a:close/>
              </a:path>
            </a:pathLst>
          </a:custGeom>
          <a:solidFill>
            <a:srgbClr val="F5F8F2">
              <a:alpha val="22000"/>
            </a:srgbClr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2371725" y="1962150"/>
            <a:ext cx="666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A4DA22"/>
                </a:solidFill>
                <a:latin typeface="Georgia"/>
                <a:ea typeface="Georgia"/>
              </a:rPr>
              <a:t>75%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2076450" y="2447925"/>
            <a:ext cx="1257300" cy="2247900"/>
          </a:xfrm>
          <a:custGeom>
            <a:pathLst>
              <a:path w="132" h="236">
                <a:moveTo>
                  <a:pt x="6" y="0"/>
                </a:moveTo>
                <a:lnTo>
                  <a:pt x="126" y="0"/>
                </a:lnTo>
                <a:cubicBezTo>
                  <a:pt x="129" y="0"/>
                  <a:pt x="132" y="3"/>
                  <a:pt x="132" y="6"/>
                </a:cubicBezTo>
                <a:lnTo>
                  <a:pt x="132" y="236"/>
                </a:lnTo>
                <a:lnTo>
                  <a:pt x="132" y="236"/>
                </a:lnTo>
                <a:lnTo>
                  <a:pt x="0" y="236"/>
                </a:lnTo>
                <a:lnTo>
                  <a:pt x="0" y="236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gradFill>
            <a:gsLst>
              <a:gs pos="0">
                <a:srgbClr val="A4DA22"/>
              </a:gs>
              <a:gs pos="100000">
                <a:srgbClr val="056526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410075" y="1276350"/>
            <a:ext cx="714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A4DA22"/>
                </a:solidFill>
                <a:latin typeface="Georgia"/>
                <a:ea typeface="Georgia"/>
              </a:rPr>
              <a:t>98%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4133850" y="1762125"/>
            <a:ext cx="1257300" cy="2933700"/>
          </a:xfrm>
          <a:custGeom>
            <a:pathLst>
              <a:path w="132" h="308">
                <a:moveTo>
                  <a:pt x="6" y="0"/>
                </a:moveTo>
                <a:lnTo>
                  <a:pt x="126" y="0"/>
                </a:lnTo>
                <a:cubicBezTo>
                  <a:pt x="129" y="0"/>
                  <a:pt x="132" y="3"/>
                  <a:pt x="132" y="6"/>
                </a:cubicBezTo>
                <a:lnTo>
                  <a:pt x="132" y="308"/>
                </a:lnTo>
                <a:lnTo>
                  <a:pt x="132" y="308"/>
                </a:lnTo>
                <a:lnTo>
                  <a:pt x="0" y="308"/>
                </a:lnTo>
                <a:lnTo>
                  <a:pt x="0" y="308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gradFill>
            <a:gsLst>
              <a:gs pos="0">
                <a:srgbClr val="A4DA22"/>
              </a:gs>
              <a:gs pos="100000">
                <a:srgbClr val="056526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2486025" y="4819650"/>
            <a:ext cx="438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F8F2"/>
                </a:solidFill>
                <a:latin typeface="Segoe UI"/>
                <a:ea typeface="Segoe UI"/>
              </a:rPr>
              <a:t>Offline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2276475" y="4981575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5F8F2">
                    <a:alpha val="50000"/>
                  </a:srgbClr>
                </a:solidFill>
                <a:latin typeface="Segoe UI"/>
                <a:ea typeface="Segoe UI"/>
              </a:rPr>
              <a:t>on-device model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552950" y="481965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F8F2"/>
                </a:solidFill>
                <a:latin typeface="Segoe UI"/>
                <a:ea typeface="Segoe UI"/>
              </a:rPr>
              <a:t>Online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381500" y="4981575"/>
            <a:ext cx="771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5F8F2">
                    <a:alpha val="50000"/>
                  </a:srgbClr>
                </a:solidFill>
                <a:latin typeface="Segoe UI"/>
                <a:ea typeface="Segoe UI"/>
              </a:rPr>
              <a:t>gateway model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85800" y="5295900"/>
            <a:ext cx="60960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Classification accuracy on the same 14-class label set, from the project's validation run. Percent of test images classified correctly.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200900" y="1219200"/>
            <a:ext cx="43053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 spc="-225">
                <a:solidFill>
                  <a:srgbClr val="A4DA22"/>
                </a:solidFill>
                <a:latin typeface="Georgia"/>
                <a:ea typeface="Georgia"/>
              </a:rPr>
              <a:t>23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200900" y="2466975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5F8F2"/>
                </a:solidFill>
                <a:latin typeface="Segoe UI"/>
                <a:ea typeface="Segoe UI"/>
              </a:rPr>
              <a:t>percentage points between the two paths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200900" y="2781300"/>
            <a:ext cx="4305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F5F8F2">
                    <a:alpha val="62000"/>
                  </a:srgbClr>
                </a:solidFill>
                <a:latin typeface="Segoe UI"/>
                <a:ea typeface="Segoe UI"/>
              </a:rPr>
              <a:t>The on-device model is smaller and cheaper to run. The gateway calls a hosted model. That difference is the whole trade-off in one number.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7200900" y="3848100"/>
            <a:ext cx="4305300" cy="847725"/>
          </a:xfrm>
          <a:custGeom>
            <a:pathLst>
              <a:path w="452" h="89">
                <a:moveTo>
                  <a:pt x="0" y="0"/>
                </a:moveTo>
                <a:lnTo>
                  <a:pt x="452" y="0"/>
                </a:lnTo>
                <a:lnTo>
                  <a:pt x="4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18000"/>
            </a:srgbClr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7200900" y="3990975"/>
            <a:ext cx="430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A4DA22"/>
                </a:solidFill>
                <a:latin typeface="Segoe UI"/>
                <a:ea typeface="Segoe UI"/>
              </a:rPr>
              <a:t>WHAT THIS ESTABLISHES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200900" y="4191000"/>
            <a:ext cx="43053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F5F8F2">
                    <a:alpha val="62000"/>
                  </a:srgbClr>
                </a:solidFill>
                <a:latin typeface="Segoe UI"/>
                <a:ea typeface="Segoe UI"/>
              </a:rPr>
              <a:t>Both paths can carry the same 14 classes end to end, and the online path is the more accurate of the two.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7200900" y="5200650"/>
            <a:ext cx="4305300" cy="1095375"/>
          </a:xfrm>
          <a:custGeom>
            <a:pathLst>
              <a:path w="452" h="115">
                <a:moveTo>
                  <a:pt x="0" y="0"/>
                </a:moveTo>
                <a:lnTo>
                  <a:pt x="452" y="0"/>
                </a:lnTo>
                <a:lnTo>
                  <a:pt x="4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18000"/>
            </a:srgbClr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200900" y="5343525"/>
            <a:ext cx="430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F5F8F2">
                    <a:alpha val="50000"/>
                  </a:srgbClr>
                </a:solidFill>
                <a:latin typeface="Segoe UI"/>
                <a:ea typeface="Segoe UI"/>
              </a:rPr>
              <a:t>WHAT IT DOES NOT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200900" y="5543550"/>
            <a:ext cx="43053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F5F8F2">
                    <a:alpha val="62000"/>
                  </a:srgbClr>
                </a:solidFill>
                <a:latin typeface="Segoe UI"/>
                <a:ea typeface="Segoe UI"/>
              </a:rPr>
              <a:t>Field accuracy across a whole season, or that either figure survives a farmer's phone in poor light. No error bars, no significance claim — the sample does not support one.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16000"/>
            </a:srgbClr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F8F2">
                    <a:alpha val="45000"/>
                  </a:srgbClr>
                </a:solidFill>
                <a:latin typeface="Segoe UI"/>
                <a:ea typeface="Segoe UI"/>
              </a:rPr>
              <a:t>17 / 19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32" name="" descr="&lt;Slide style={{ width: 1280, height: 720, padding: '20px 72px 0px 72px', background: '#F5F8F2', position: 'relative' }}&gt;&#10;&#10;  &lt;Box style={{ height: 108, justifyContent: 'center' }}&gt;&#10;    &lt;Text style={{ fontFamily: 'Segoe UI', fontSize: 13, fontWeight: 600, color: '#056526', letterSpacing: 2.4 }}&gt;ROADMAP&lt;/Text&gt;&#10;    &lt;Text style={{ fontFamily: 'Segoe UI', fontSize: 34, fontWeight: 700, color: '#0B1F14', letterSpacing: -0.6, marginTop: 8 }}&gt;What ships next&lt;/Text&gt;&#10;  &lt;/Box&gt;&#10;&#10;  &lt;Box style={{ height: 532, flexDirection: 'row', gap: 56 }}&gt;&#10;&#10;    &lt;Box style={{ width: 336, justifyContent: 'space-between' }}&gt;&#10;      &lt;Box&gt;&#10;        &lt;Text style={{ fontFamily: 'Georgia', fontSize: 26, color: '#0B1F14', lineHeight: 1.5 }}&gt;&#10;          Ordered by dependency, not by enthusiasm.&#10;        &lt;/Text&gt;&#10;        &lt;Text style={{ fontFamily: 'Segoe UI', fontSize: 15, color: 'rgba(11,31,20,0.62)', lineHeight: 1.7, marginTop: 18 }}&gt;&#10;          No dates on this list. Each step needs the one above it to be true first — a bigger dataset before a better model, and a better model before a field trial worth running.&#10;        &lt;/Text&gt;&#10;      &lt;/Box&gt;&#10;      &lt;Box&gt;&#10;        &lt;Text style={{ fontFamily: 'Segoe UI', fontSize: 12, fontWeight: 600, color: '#056526', letterSpacing: 1.6 }}&gt;PILOT FOOTPRINT&lt;/Text&gt;&#10;        &lt;Box style={{ flexDirection: 'row', justifyContent: 'space-between', marginTop: 10, borderBottom: '1px solid rgba(11,31,20,0.1)', paddingBottom: 6 }}&gt;&#10;          &lt;Text style={{ fontFamily: 'Segoe UI', fontSize: 13, color: 'rgba(11,31,20,0.6)' }}&gt;Municipality&lt;/Text&gt;&#10;          &lt;Text style={{ fontFamily: 'Georgia', fontSize: 15, fontWeight: 'bold', color: '#0B1F14' }}&gt;1&lt;/Text&gt;&#10;        &lt;/Box&gt;&#10;        &lt;Box style={{ flexDirection: 'row', justifyContent: 'space-between', marginTop: 6, borderBottom: '1px solid rgba(11,31,20,0.1)', paddingBottom: 6 }}&gt;&#10;          &lt;Text style={{ fontFamily: 'Segoe UI', fontSize: 13, color: 'rgba(11,31,20,0.6)' }}&gt;Barangays&lt;/Text&gt;&#10;          &lt;Text style={{ fontFamily: 'Georgia', fontSize: 15, fontWeight: 'bold', color: '#0B1F14' }}&gt;10&lt;/Text&gt;&#10;        &lt;/Box&gt;&#10;        &lt;Box style={{ flexDirection: 'row', justifyContent: 'space-between', marginTop: 6 }}&gt;&#10;          &lt;Text style={{ fontFamily: 'Segoe UI', fontSize: 13, color: 'rgba(11,31,20,0.6)' }}&gt;Crops&lt;/Text&gt;&#10;          &lt;Text style={{ fontFamily: 'Georgia', fontSize: 15, fontWeight: 'bold', color: '#0B1F14' }}&gt;2&lt;/Text&gt;&#10;        &lt;/Box&gt;&#10;      &lt;/Box&gt;&#10;&#10;      &lt;Box style={{ borderTop: '1px solid rgba(11,31,20,0.12)', paddingTop: 16 }}&gt;&#10;        &lt;Text style={{ fontFamily: 'Georgia', fontSize: 15, fontStyle: 'italic', color: 'rgba(11,31,20,0.7)', lineHeight: 1.55 }}&gt;&#10;          The pilot covers one municipality and ten barangays. Nothing here assumes it generalises further.&#10;        &lt;/Text&gt;&#10;      &lt;/Box&gt;&#10;    &lt;/Box&gt;&#10;&#10;    &lt;Box style={{ flex: 1, justifyContent: 'space-between' }}&gt;&#10;&#10;      &lt;Box style={{ flexDirection: 'row', gap: 20, paddingBottom: 14, borderBottom: '1px solid rgba(11,31,20,0.1)' }}&gt;&#10;        &lt;Text style={{ fontFamily: 'Georgia', fontSize: 26, fontWeight: 'bold', color: '#056526', width: 44, lineHeight: 1 }}&gt;01&lt;/Text&gt;&#10;        &lt;Box style={{ flex: 1 }}&gt;&#10;          &lt;Text style={{ fontFamily: 'Segoe UI', fontSize: 17, fontWeight: 600, color: '#0B1F14' }}&gt;Expand the dataset&lt;/Text&gt;&#10;          &lt;Text style={{ fontFamily: 'Segoe UI', fontSize: 14, color: 'rgba(11,31,20,0.62)', lineHeight: 1.6, marginTop: 4 }}&gt;More field photos per class, especially palay sheath blight and the healthy baselines.&lt;/Text&gt;&#10;        &lt;/Box&gt;&#10;      &lt;/Box&gt;&#10;&#10;      &lt;Box style={{ flexDirection: 'row', gap: 20, paddingTop: 14, paddingBottom: 14, borderBottom: '1px solid rgba(11,31,20,0.1)' }}&gt;&#10;        &lt;Text style={{ fontFamily: 'Georgia', fontSize: 26, fontWeight: 'bold', color: '#056526', width: 44, lineHeight: 1 }}&gt;02&lt;/Text&gt;&#10;        &lt;Box style={{ flex: 1 }}&gt;&#10;          &lt;Text style={{ fontFamily: 'Segoe UI', fontSize: 17, fontWeight: 600, color: '#0B1F14' }}&gt;Field testing&lt;/Text&gt;&#10;          &lt;Text style={{ fontFamily: 'Segoe UI', fontSize: 14, color: 'rgba(11,31,20,0.62)', lineHeight: 1.6, marginTop: 4 }}&gt;Run the acceptance tests with farmers, in daylight, on the phones they actually own.&lt;/Text&gt;&#10;        &lt;/Box&gt;&#10;      &lt;/Box&gt;&#10;&#10;      &lt;Box style={{ flexDirection: 'row', gap: 20, paddingTop: 14, paddingBottom: 14, borderBottom: '1px solid rgba(11,31,20,0.1)' }}&gt;&#10;        &lt;Text style={{ fontFamily: 'Georgia', fontSize: 26, fontWeight: 'bold', color: '#056526', width: 44, lineHeight: 1 }}&gt;03&lt;/Text&gt;&#10;        &lt;Box style={{ flex: 1 }}&gt;&#10;          &lt;Text style={{ fontFamily: 'Segoe UI', fontSize: 17, fontWeight: 600, color: '#0B1F14' }}&gt;Close the offline gap&lt;/Text&gt;&#10;          &lt;Text style={{ fontFamily: 'Segoe UI', fontSize: 14, color: 'rgba(11,31,20,0.62)', lineHeight: 1.6, marginTop: 4 }}&gt;Retrain the on-device model and re-measure against the gateway — the 23 points are the target.&lt;/Text&gt;&#10;        &lt;/Box&gt;&#10;      &lt;/Box&gt;&#10;&#10;      &lt;Box style={{ flexDirection: 'row', gap: 20, paddingTop: 14, paddingBottom: 14, borderBottom: '1px solid rgba(11,31,20,0.1)' }}&gt;&#10;        &lt;Text style={{ fontFamily: 'Georgia', fontSize: 26, fontWeight: 'bold', color: '#056526', width: 44, lineHeight: 1 }}&gt;04&lt;/Text&gt;&#10;        &lt;Box style={{ flex: 1 }}&gt;&#10;          &lt;Text style={{ fontFamily: 'Segoe UI', fontSize: 17, fontWeight: 600, color: '#0B1F14' }}&gt;Expert validation&lt;/Text&gt;&#10;          &lt;Text style={{ fontFamily: 'Segoe UI', fontSize: 14, color: 'rgba(11,31,20,0.62)', lineHeight: 1.6, marginTop: 4 }}&gt;Have a municipal agriculturist review both the labels and the guidance text, not just the model.&lt;/Text&gt;&#10;        &lt;/Box&gt;&#10;      &lt;/Box&gt;&#10;&#10;      &lt;Box style={{ flexDirection: 'row', gap: 20, paddingTop: 14 }}&gt;&#10;        &lt;Text style={{ fontFamily: 'Georgia', fontSize: 26, fontWeight: 'bold', color: '#056526', width: 44, lineHeight: 1 }}&gt;05&lt;/Text&gt;&#10;        &lt;Box style={{ flex: 1 }}&gt;&#10;          &lt;Text style={{ fontFamily: 'Segoe UI', fontSize: 17, fontWeight: 600, color: '#0B1F14' }}&gt;Privacy review before any rollout&lt;/Text&gt;&#10;          &lt;Text style={{ fontFamily: 'Segoe UI', fontSize: 14, color: 'rgba(11,31,20,0.62)', lineHeight: 1.6, marginTop: 4 }}&gt;Confirm consent, retention and access rules hold before a second municipality is added.&lt;/Text&gt;&#10;        &lt;/Box&gt;&#10;      &lt;/Box&gt;&#10;&#10;    &lt;/Box&gt;&#10;  &lt;/Box&gt;&#10;&#10;  &lt;Box style={{ height: 60, flexDirection: 'row', justifyContent: 'space-between', alignItems: 'flex-start', paddingTop: 16, borderTop: '1px solid rgba(11,31,20,0.1)' }}&gt;&#10;    &lt;Text style={{ fontFamily: 'Segoe UI', fontSize: 13, color: 'rgba(11,31,20,0.45)' }}&gt;AgriSuri PH · Product Scope&lt;/Text&gt;&#10;    &lt;Text style={{ fontFamily: 'Segoe UI', fontSize: 13, color: 'rgba(11,31,20,0.45)' }}&gt;18 / 1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2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80">
                <a:solidFill>
                  <a:srgbClr val="056526"/>
                </a:solidFill>
                <a:latin typeface="Segoe UI"/>
                <a:ea typeface="Segoe UI"/>
              </a:rPr>
              <a:t>ROADMAP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85800" y="628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-45">
                <a:solidFill>
                  <a:srgbClr val="0B1F14"/>
                </a:solidFill>
                <a:latin typeface="Segoe UI"/>
                <a:ea typeface="Segoe UI"/>
              </a:rPr>
              <a:t>What ships next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85800" y="1219200"/>
            <a:ext cx="320040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950">
                <a:solidFill>
                  <a:srgbClr val="0B1F14"/>
                </a:solidFill>
                <a:latin typeface="Georgia"/>
                <a:ea typeface="Georgia"/>
              </a:rPr>
              <a:t>Ordered by dependency, not by enthusiasm.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85800" y="2286000"/>
            <a:ext cx="32004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No dates on this list. Each step needs the one above it to be true first — a bigger dataset before a better model, and a better model before a field trial worth running.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85800" y="3895725"/>
            <a:ext cx="3200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20">
                <a:solidFill>
                  <a:srgbClr val="056526"/>
                </a:solidFill>
                <a:latin typeface="Segoe UI"/>
                <a:ea typeface="Segoe UI"/>
              </a:rPr>
              <a:t>PILOT FOOTPRINT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685800" y="4133850"/>
            <a:ext cx="3200400" cy="247650"/>
          </a:xfrm>
          <a:custGeom>
            <a:pathLst>
              <a:path w="336" h="26">
                <a:moveTo>
                  <a:pt x="0" y="25"/>
                </a:moveTo>
                <a:lnTo>
                  <a:pt x="336" y="25"/>
                </a:lnTo>
                <a:lnTo>
                  <a:pt x="336" y="26"/>
                </a:lnTo>
                <a:lnTo>
                  <a:pt x="0" y="26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85800" y="4133850"/>
            <a:ext cx="66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Municipality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3810000" y="413385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Georgia"/>
                <a:ea typeface="Georgia"/>
              </a:rPr>
              <a:t>1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85800" y="4429125"/>
            <a:ext cx="3200400" cy="247650"/>
          </a:xfrm>
          <a:custGeom>
            <a:pathLst>
              <a:path w="336" h="26">
                <a:moveTo>
                  <a:pt x="0" y="25"/>
                </a:moveTo>
                <a:lnTo>
                  <a:pt x="336" y="25"/>
                </a:lnTo>
                <a:lnTo>
                  <a:pt x="336" y="26"/>
                </a:lnTo>
                <a:lnTo>
                  <a:pt x="0" y="26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85800" y="4429125"/>
            <a:ext cx="56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Barangays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3714750" y="4429125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Georgia"/>
                <a:ea typeface="Georgia"/>
              </a:rPr>
              <a:t>10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85800" y="4724400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60000"/>
                  </a:srgbClr>
                </a:solidFill>
                <a:latin typeface="Segoe UI"/>
                <a:ea typeface="Segoe UI"/>
              </a:rPr>
              <a:t>Crops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3790950" y="47244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1F14"/>
                </a:solidFill>
                <a:latin typeface="Georgia"/>
                <a:ea typeface="Georgia"/>
              </a:rPr>
              <a:t>2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85800" y="5324475"/>
            <a:ext cx="3200400" cy="971550"/>
          </a:xfrm>
          <a:custGeom>
            <a:pathLst>
              <a:path w="336" h="102">
                <a:moveTo>
                  <a:pt x="0" y="0"/>
                </a:moveTo>
                <a:lnTo>
                  <a:pt x="336" y="0"/>
                </a:lnTo>
                <a:lnTo>
                  <a:pt x="33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2000"/>
            </a:srgbClr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85800" y="5486400"/>
            <a:ext cx="32004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 i="1">
                <a:solidFill>
                  <a:srgbClr val="0B1F14">
                    <a:alpha val="70000"/>
                  </a:srgbClr>
                </a:solidFill>
                <a:latin typeface="Georgia"/>
                <a:ea typeface="Georgia"/>
              </a:rPr>
              <a:t>The pilot covers one municipality and ten barangays. Nothing here assumes it generalises further.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4419600" y="1219200"/>
            <a:ext cx="7086600" cy="647700"/>
          </a:xfrm>
          <a:custGeom>
            <a:pathLst>
              <a:path w="744" h="68">
                <a:moveTo>
                  <a:pt x="0" y="67"/>
                </a:moveTo>
                <a:lnTo>
                  <a:pt x="744" y="67"/>
                </a:lnTo>
                <a:lnTo>
                  <a:pt x="744" y="68"/>
                </a:lnTo>
                <a:lnTo>
                  <a:pt x="0" y="68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419600" y="1219200"/>
            <a:ext cx="419100" cy="495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56526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029200" y="1219200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1F14"/>
                </a:solidFill>
                <a:latin typeface="Segoe UI"/>
                <a:ea typeface="Segoe UI"/>
              </a:rPr>
              <a:t>Expand the dataset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029200" y="1457325"/>
            <a:ext cx="647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More field photos per class, especially palay sheath blight and the healthy baselines.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4419600" y="2228850"/>
            <a:ext cx="7086600" cy="781050"/>
          </a:xfrm>
          <a:custGeom>
            <a:pathLst>
              <a:path w="744" h="82">
                <a:moveTo>
                  <a:pt x="0" y="81"/>
                </a:moveTo>
                <a:lnTo>
                  <a:pt x="744" y="81"/>
                </a:lnTo>
                <a:lnTo>
                  <a:pt x="74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419600" y="2362200"/>
            <a:ext cx="419100" cy="495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56526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5029200" y="2362200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1F14"/>
                </a:solidFill>
                <a:latin typeface="Segoe UI"/>
                <a:ea typeface="Segoe UI"/>
              </a:rPr>
              <a:t>Field testing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029200" y="2600325"/>
            <a:ext cx="647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Run the acceptance tests with farmers, in daylight, on the phones they actually own.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4419600" y="3371850"/>
            <a:ext cx="7086600" cy="781050"/>
          </a:xfrm>
          <a:custGeom>
            <a:pathLst>
              <a:path w="744" h="82">
                <a:moveTo>
                  <a:pt x="0" y="81"/>
                </a:moveTo>
                <a:lnTo>
                  <a:pt x="744" y="81"/>
                </a:lnTo>
                <a:lnTo>
                  <a:pt x="74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419600" y="3505200"/>
            <a:ext cx="419100" cy="495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56526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029200" y="3505200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1F14"/>
                </a:solidFill>
                <a:latin typeface="Segoe UI"/>
                <a:ea typeface="Segoe UI"/>
              </a:rPr>
              <a:t>Close the offline gap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029200" y="3743325"/>
            <a:ext cx="647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Retrain the on-device model and re-measure against the gateway — the 23 points are the target.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4419600" y="4514850"/>
            <a:ext cx="7086600" cy="781050"/>
          </a:xfrm>
          <a:custGeom>
            <a:pathLst>
              <a:path w="744" h="82">
                <a:moveTo>
                  <a:pt x="0" y="81"/>
                </a:moveTo>
                <a:lnTo>
                  <a:pt x="744" y="81"/>
                </a:lnTo>
                <a:lnTo>
                  <a:pt x="74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419600" y="4648200"/>
            <a:ext cx="419100" cy="495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56526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029200" y="4648200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1F14"/>
                </a:solidFill>
                <a:latin typeface="Segoe UI"/>
                <a:ea typeface="Segoe UI"/>
              </a:rPr>
              <a:t>Expert validation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029200" y="4886325"/>
            <a:ext cx="647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Have a municipal agriculturist review both the labels and the guidance text, not just the model.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419600" y="5791200"/>
            <a:ext cx="419100" cy="495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56526"/>
                </a:solidFill>
                <a:latin typeface="Georgia"/>
                <a:ea typeface="Georgia"/>
              </a:rPr>
              <a:t>05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029200" y="5791200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1F14"/>
                </a:solidFill>
                <a:latin typeface="Segoe UI"/>
                <a:ea typeface="Segoe UI"/>
              </a:rPr>
              <a:t>Privacy review before any rollout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029200" y="6029325"/>
            <a:ext cx="647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0B1F14">
                    <a:alpha val="62000"/>
                  </a:srgbClr>
                </a:solidFill>
                <a:latin typeface="Segoe UI"/>
                <a:ea typeface="Segoe UI"/>
              </a:rPr>
              <a:t>Confirm consent, retention and access rules hold before a second municipality is added.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685800" y="6286500"/>
            <a:ext cx="10820400" cy="571500"/>
          </a:xfrm>
          <a:custGeom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0B1F14">
              <a:alpha val="10000"/>
            </a:srgbClr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85800" y="64484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115675" y="64484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F14">
                    <a:alpha val="45000"/>
                  </a:srgbClr>
                </a:solidFill>
                <a:latin typeface="Segoe UI"/>
                <a:ea typeface="Segoe UI"/>
              </a:rPr>
              <a:t>18 / 19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71" name="" descr="&lt;Slide style={{ width: 1280, height: 720, position: 'relative', overflow: 'hidden', background: 'linear-gradient(150deg, #0B1F14 0%, #0B1F14 55%, #056526 100%)', padding: 0 }}&gt;&#10;&#10;  &lt;Box style={{ position: 'absolute', left: 0, top: 0, width: 1280, height: 720, alignItems: 'center', justifyContent: 'center' }}&gt;&#10;&#10;    &lt;Image src='assets/logo.png' style={{ width: 56, height: 56 }} /&gt;&#10;&#10;    &lt;Text style={{ fontFamily: 'Georgia', fontSize: 62, fontWeight: 'bold', color: '#F5F8F2', lineHeight: 1.2, letterSpacing: -1, marginTop: 34, textAlign: 'center' }}&gt;&#10;      Two crops. One photo.&lt;br /&gt;No signal required.&#10;    &lt;/Text&gt;&#10;&#10;    &lt;Box style={{ width: 96, height: 3, background: '#A4DA22', marginTop: 30, marginBottom: 26 }} /&gt;&#10;&#10;    &lt;Text style={{ fontFamily: 'Segoe UI', fontSize: 18, color: 'rgba(245,248,242,0.7)', textAlign: 'center', width: 720, lineHeight: 1.6 }}&gt;&#10;      Tomato and palay, in Peñaranda, Nueva Ecija — with a preliminary reading that says so, and a refusal to guess when it cannot tell.&#10;    &lt;/Text&gt;&#10;&#10;  &lt;/Box&gt;&#10;&#10;  &lt;Box style={{ position: 'absolute', left: 72, right: 72, bottom: 40, flexDirection: 'row', justifyContent: 'space-between', alignItems: 'center', borderTop: '1px solid rgba(245,248,242,0.2)', paddingTop: 16 }}&gt;&#10;    &lt;Text style={{ fontFamily: 'Segoe UI', fontSize: 12, color: 'rgba(245,248,242,0.5)', letterSpacing: 2 }}&gt;AGRISURI PH · PRODUCT SCOPE&lt;/Text&gt;&#10;    &lt;Text style={{ fontFamily: 'Segoe UI', fontSize: 12, color: 'rgba(245,248,242,0.5)' }}&gt;19 / 1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F14"/>
              </a:gs>
              <a:gs pos="55000">
                <a:srgbClr val="0B1F14"/>
              </a:gs>
              <a:gs pos="100000">
                <a:srgbClr val="056526"/>
              </a:gs>
            </a:gsLst>
            <a:lin ang="3600000" scaled="1"/>
          </a:gradFill>
          <a:ln/>
        </p:spPr>
        <p:txBody>
          <a:bodyPr/>
          <a:p/>
        </p:txBody>
      </p:sp>
      <p:pic>
        <p:nvPicPr>
          <p:cNvPr id="37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5829300" y="1533525"/>
            <a:ext cx="533400" cy="533400"/>
          </a:xfrm>
          <a:prstGeom prst="rect">
            <a:avLst/>
          </a:prstGeom>
          <a:ln/>
        </p:spPr>
      </p:pic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2790825" y="2390775"/>
            <a:ext cx="6619875" cy="170497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en-US" sz="4650" b="1" spc="-75">
                <a:solidFill>
                  <a:srgbClr val="F5F8F2"/>
                </a:solidFill>
                <a:latin typeface="Georgia"/>
                <a:ea typeface="Georgia"/>
              </a:rPr>
              <a:t>Two crops. One photo.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4650" b="1" spc="-75">
                <a:solidFill>
                  <a:srgbClr val="F5F8F2"/>
                </a:solidFill>
                <a:latin typeface="Georgia"/>
                <a:ea typeface="Georgia"/>
              </a:rPr>
              <a:t>No signal required.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5638800" y="4381500"/>
            <a:ext cx="914400" cy="28575"/>
          </a:xfrm>
          <a:prstGeom prst="rect">
            <a:avLst/>
          </a:prstGeom>
          <a:solidFill>
            <a:srgbClr val="A4DA22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2667000" y="4657725"/>
            <a:ext cx="6858000" cy="6667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en-US" sz="1350">
                <a:solidFill>
                  <a:srgbClr val="F5F8F2">
                    <a:alpha val="70000"/>
                  </a:srgbClr>
                </a:solidFill>
                <a:latin typeface="Segoe UI"/>
                <a:ea typeface="Segoe UI"/>
              </a:rPr>
              <a:t>Tomato and palay, in Peñaranda, Nueva Ecija — with a preliminary reading that says so, and a refusal to guess when it cannot tell.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85800" y="6172200"/>
            <a:ext cx="10820400" cy="314325"/>
          </a:xfrm>
          <a:custGeom>
            <a:pathLst>
              <a:path w="1136" h="33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F5F8F2">
              <a:alpha val="20000"/>
            </a:srgbClr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85800" y="633412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5F8F2">
                    <a:alpha val="50000"/>
                  </a:srgbClr>
                </a:solidFill>
                <a:latin typeface="Segoe UI"/>
                <a:ea typeface="Segoe UI"/>
              </a:rPr>
              <a:t>AGRISURI PH · PRODUCT SCOPE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1144250" y="633412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5F8F2">
                    <a:alpha val="50000"/>
                  </a:srgbClr>
                </a:solidFill>
                <a:latin typeface="Segoe UI"/>
                <a:ea typeface="Segoe UI"/>
              </a:rPr>
              <a:t>19 / 19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2026-10-20T09:15:58Z</dcterms:created>
  <dcterms:modified xsi:type="dcterms:W3CDTF">2026-10-20T09:15:58Z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{"AIGC":{"Label":"1","ContentProducer":"00119111010856365494821B355","ProduceID":"01a156b4f2b5733294d1b69ce553702e","ReservedCode1":"","ContentPropagator":"00119111010856365494821B355","PropagateID":"01a156b4f2b5733294d1b69ce553702e","ReservedCode2":""}}</vt:lpwstr>
  </property>
</Properties>
</file>